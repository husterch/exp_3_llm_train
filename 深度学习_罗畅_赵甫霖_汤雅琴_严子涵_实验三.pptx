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2" r:id="rId3"/>
  </p:sldMasterIdLst>
  <p:notesMasterIdLst>
    <p:notesMasterId r:id="rId5"/>
  </p:notesMasterIdLst>
  <p:handoutMasterIdLst>
    <p:handoutMasterId r:id="rId20"/>
  </p:handoutMasterIdLst>
  <p:sldIdLst>
    <p:sldId id="257" r:id="rId4"/>
    <p:sldId id="258" r:id="rId6"/>
    <p:sldId id="375" r:id="rId7"/>
    <p:sldId id="426" r:id="rId8"/>
    <p:sldId id="405" r:id="rId9"/>
    <p:sldId id="412" r:id="rId10"/>
    <p:sldId id="444" r:id="rId11"/>
    <p:sldId id="445" r:id="rId12"/>
    <p:sldId id="446" r:id="rId13"/>
    <p:sldId id="447" r:id="rId14"/>
    <p:sldId id="448" r:id="rId15"/>
    <p:sldId id="449" r:id="rId16"/>
    <p:sldId id="450" r:id="rId17"/>
    <p:sldId id="423" r:id="rId18"/>
    <p:sldId id="308" r:id="rId19"/>
  </p:sldIdLst>
  <p:sldSz cx="12192000" cy="6858000"/>
  <p:notesSz cx="6858000" cy="9144000"/>
  <p:embeddedFontLst>
    <p:embeddedFont>
      <p:font typeface="Calibri" panose="020F0502020204030204"/>
      <p:regular r:id="rId24"/>
    </p:embeddedFont>
    <p:embeddedFont>
      <p:font typeface="Cambria Math" panose="02040503050406030204" pitchFamily="18" charset="0"/>
      <p:regular r:id="rId2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C1F5D2"/>
    <a:srgbClr val="65E590"/>
    <a:srgbClr val="F3F6F6"/>
    <a:srgbClr val="ACC4CE"/>
    <a:srgbClr val="969696"/>
    <a:srgbClr val="E7E1CD"/>
    <a:srgbClr val="FFE181"/>
    <a:srgbClr val="FFC0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92928" autoAdjust="0"/>
  </p:normalViewPr>
  <p:slideViewPr>
    <p:cSldViewPr snapToGrid="0">
      <p:cViewPr varScale="1">
        <p:scale>
          <a:sx n="91" d="100"/>
          <a:sy n="91" d="100"/>
        </p:scale>
        <p:origin x="63" y="12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1" d="100"/>
          <a:sy n="61" d="100"/>
        </p:scale>
        <p:origin x="2736" y="5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576F6-483A-4A00-8BBE-C319DECE8B9B}"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A49A76-CB97-4974-984B-5340045D465E}"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9C0FCA88-2C36-457F-8226-69897867E60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D68FF253-41B3-4C48-BDD2-0344852081E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幻灯片图像占位符 1"/>
          <p:cNvSpPr>
            <a:spLocks noGrp="1" noRot="1" noChangeAspect="1"/>
          </p:cNvSpPr>
          <p:nvPr>
            <p:ph type="sldImg"/>
          </p:nvPr>
        </p:nvSpPr>
        <p:spPr/>
      </p:sp>
      <p:sp>
        <p:nvSpPr>
          <p:cNvPr id="1048593" name="备注占位符 2"/>
          <p:cNvSpPr>
            <a:spLocks noGrp="1"/>
          </p:cNvSpPr>
          <p:nvPr>
            <p:ph type="body" idx="1"/>
          </p:nvPr>
        </p:nvSpPr>
        <p:spPr/>
        <p:txBody>
          <a:bodyPr/>
          <a:lstStyle/>
          <a:p>
            <a:endParaRPr lang="zh-CN" altLang="en-US" dirty="0"/>
          </a:p>
        </p:txBody>
      </p:sp>
      <p:sp>
        <p:nvSpPr>
          <p:cNvPr id="104859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幻灯片图像占位符 1"/>
          <p:cNvSpPr>
            <a:spLocks noGrp="1" noRot="1" noChangeAspect="1"/>
          </p:cNvSpPr>
          <p:nvPr>
            <p:ph type="sldImg"/>
          </p:nvPr>
        </p:nvSpPr>
        <p:spPr/>
      </p:sp>
      <p:sp>
        <p:nvSpPr>
          <p:cNvPr id="1048613" name="备注占位符 2"/>
          <p:cNvSpPr>
            <a:spLocks noGrp="1"/>
          </p:cNvSpPr>
          <p:nvPr>
            <p:ph type="body" idx="1"/>
          </p:nvPr>
        </p:nvSpPr>
        <p:spPr/>
        <p:txBody>
          <a:bodyPr/>
          <a:lstStyle/>
          <a:p>
            <a:endParaRPr lang="zh-CN" altLang="en-US" dirty="0"/>
          </a:p>
        </p:txBody>
      </p:sp>
      <p:sp>
        <p:nvSpPr>
          <p:cNvPr id="104861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74151"/>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9" name="幻灯片图像占位符 1"/>
          <p:cNvSpPr>
            <a:spLocks noGrp="1" noRot="1" noChangeAspect="1"/>
          </p:cNvSpPr>
          <p:nvPr>
            <p:ph type="sldImg"/>
          </p:nvPr>
        </p:nvSpPr>
        <p:spPr/>
      </p:sp>
      <p:sp>
        <p:nvSpPr>
          <p:cNvPr id="1049410" name="备注占位符 2"/>
          <p:cNvSpPr>
            <a:spLocks noGrp="1"/>
          </p:cNvSpPr>
          <p:nvPr>
            <p:ph type="body" idx="1"/>
          </p:nvPr>
        </p:nvSpPr>
        <p:spPr/>
        <p:txBody>
          <a:bodyPr/>
          <a:lstStyle/>
          <a:p>
            <a:endParaRPr lang="zh-CN" altLang="en-US" dirty="0"/>
          </a:p>
        </p:txBody>
      </p:sp>
      <p:sp>
        <p:nvSpPr>
          <p:cNvPr id="1049411"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C990B09-5614-4441-986A-2B8D4B0D146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微软雅黑" panose="020B0503020204020204" pitchFamily="3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581" name="PA_矩形 44"/>
          <p:cNvSpPr/>
          <p:nvPr userDrawn="1">
            <p:custDataLst>
              <p:tags r:id="rId4"/>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82" name="PA_任意多边形 5"/>
          <p:cNvSpPr>
            <a:spLocks noEditPoints="1"/>
          </p:cNvSpPr>
          <p:nvPr userDrawn="1">
            <p:custDataLst>
              <p:tags r:id="rId5"/>
            </p:custDataLst>
          </p:nvPr>
        </p:nvSpPr>
        <p:spPr bwMode="auto">
          <a:xfrm>
            <a:off x="985905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048583" name="PA_等腰三角形 11"/>
          <p:cNvSpPr/>
          <p:nvPr userDrawn="1">
            <p:custDataLst>
              <p:tags r:id="rId6"/>
            </p:custDataLst>
          </p:nvPr>
        </p:nvSpPr>
        <p:spPr>
          <a:xfrm flipV="1">
            <a:off x="1023689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48584" name="文本占位符 10"/>
          <p:cNvSpPr>
            <a:spLocks noGrp="1"/>
          </p:cNvSpPr>
          <p:nvPr>
            <p:ph type="body" sz="quarter" idx="10" hasCustomPrompt="1"/>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lvl2pPr>
          </a:lstStyle>
          <a:p>
            <a:pPr lvl="0"/>
            <a:r>
              <a:rPr lang="zh-CN" altLang="en-US" dirty="0"/>
              <a:t>编辑母版文本样</a:t>
            </a:r>
            <a:endParaRPr lang="zh-CN" altLang="en-US" dirty="0"/>
          </a:p>
        </p:txBody>
      </p:sp>
      <p:sp>
        <p:nvSpPr>
          <p:cNvPr id="1048585" name="文本占位符 15"/>
          <p:cNvSpPr>
            <a:spLocks noGrp="1"/>
          </p:cNvSpPr>
          <p:nvPr>
            <p:ph type="body" sz="quarter" idx="11" hasCustomPrompt="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lvl2pPr>
            <a:lvl5pPr marL="1828800" indent="0">
              <a:buNone/>
            </a:lvl5pPr>
          </a:lstStyle>
          <a:p>
            <a:pPr lvl="0"/>
            <a:r>
              <a:rPr lang="zh-CN" altLang="en-US" dirty="0"/>
              <a:t>编辑母版文本样式</a:t>
            </a:r>
            <a:endParaRPr lang="zh-CN" altLang="en-US" dirty="0"/>
          </a:p>
        </p:txBody>
      </p:sp>
      <p:pic>
        <p:nvPicPr>
          <p:cNvPr id="10" name="图片 9"/>
          <p:cNvPicPr>
            <a:picLocks noChangeAspect="1"/>
          </p:cNvPicPr>
          <p:nvPr userDrawn="1"/>
        </p:nvPicPr>
        <p:blipFill>
          <a:blip r:embed="rId7"/>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9450" name="矩形 5"/>
          <p:cNvSpPr/>
          <p:nvPr userDrawn="1"/>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049451" name="矩形 6"/>
          <p:cNvSpPr/>
          <p:nvPr userDrawn="1"/>
        </p:nvSpPr>
        <p:spPr>
          <a:xfrm>
            <a:off x="682590" y="2182609"/>
            <a:ext cx="2736000" cy="197556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49452" name="文本框 7"/>
          <p:cNvSpPr txBox="1"/>
          <p:nvPr userDrawn="1"/>
        </p:nvSpPr>
        <p:spPr>
          <a:xfrm>
            <a:off x="566829" y="2605275"/>
            <a:ext cx="2967522" cy="1015663"/>
          </a:xfrm>
          <a:prstGeom prst="rect">
            <a:avLst/>
          </a:prstGeom>
          <a:noFill/>
          <a:ln>
            <a:noFill/>
          </a:ln>
        </p:spPr>
        <p:txBody>
          <a:bodyPr wrap="square" rtlCol="0">
            <a:noAutofit/>
          </a:bodyPr>
          <a:lstStyle/>
          <a:p>
            <a:pPr algn="ctr"/>
            <a:r>
              <a:rPr lang="zh-CN" altLang="en-US" sz="6000" b="1" dirty="0">
                <a:solidFill>
                  <a:schemeClr val="bg1"/>
                </a:solidFill>
                <a:latin typeface="+mn-ea"/>
                <a:cs typeface="Times New Roman" panose="02020503050405090304" pitchFamily="18" charset="0"/>
              </a:rPr>
              <a:t>目录</a:t>
            </a:r>
            <a:endParaRPr lang="zh-CN" altLang="en-US" sz="6000" b="1" dirty="0">
              <a:solidFill>
                <a:schemeClr val="bg1"/>
              </a:solidFill>
              <a:latin typeface="+mn-ea"/>
              <a:cs typeface="Times New Roman" panose="02020503050405090304" pitchFamily="18" charset="0"/>
            </a:endParaRPr>
          </a:p>
        </p:txBody>
      </p:sp>
      <p:sp>
        <p:nvSpPr>
          <p:cNvPr id="1049453" name="Freeform 5"/>
          <p:cNvSpPr>
            <a:spLocks noChangeAspect="1" noEditPoints="1"/>
          </p:cNvSpPr>
          <p:nvPr userDrawn="1"/>
        </p:nvSpPr>
        <p:spPr bwMode="auto">
          <a:xfrm>
            <a:off x="1343972" y="1403827"/>
            <a:ext cx="1451056" cy="129600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49454" name="矩形 9"/>
          <p:cNvSpPr/>
          <p:nvPr userDrawn="1"/>
        </p:nvSpPr>
        <p:spPr>
          <a:xfrm>
            <a:off x="1241036" y="3525075"/>
            <a:ext cx="1598515" cy="400110"/>
          </a:xfrm>
          <a:prstGeom prst="rect">
            <a:avLst/>
          </a:prstGeom>
        </p:spPr>
        <p:txBody>
          <a:bodyPr wrap="none">
            <a:noAutofit/>
          </a:bodyPr>
          <a:lstStyle/>
          <a:p>
            <a:r>
              <a:rPr lang="en-US" altLang="zh-CN" sz="2000" dirty="0">
                <a:solidFill>
                  <a:schemeClr val="bg1"/>
                </a:solidFill>
              </a:rPr>
              <a:t>CONTENTS</a:t>
            </a:r>
            <a:endParaRPr lang="en-US" altLang="zh-CN" sz="2000" dirty="0">
              <a:solidFill>
                <a:schemeClr val="bg1"/>
              </a:solidFill>
            </a:endParaRPr>
          </a:p>
        </p:txBody>
      </p:sp>
      <p:pic>
        <p:nvPicPr>
          <p:cNvPr id="2" name="图片 1"/>
          <p:cNvPicPr>
            <a:picLocks noChangeAspect="1"/>
          </p:cNvPicPr>
          <p:nvPr userDrawn="1"/>
        </p:nvPicPr>
        <p:blipFill>
          <a:blip r:embed="rId4"/>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792" name="矩形 5"/>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93" name="椭圆 6"/>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94" name="Freeform 5"/>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48795" name="文本占位符 10"/>
          <p:cNvSpPr>
            <a:spLocks noGrp="1"/>
          </p:cNvSpPr>
          <p:nvPr>
            <p:ph type="body" sz="quarter" idx="10" hasCustomPrompt="1"/>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endParaRPr lang="zh-CN" altLang="en-US" dirty="0"/>
          </a:p>
        </p:txBody>
      </p:sp>
      <p:pic>
        <p:nvPicPr>
          <p:cNvPr id="2" name="图片 1"/>
          <p:cNvPicPr>
            <a:picLocks noChangeAspect="1"/>
          </p:cNvPicPr>
          <p:nvPr userDrawn="1"/>
        </p:nvPicPr>
        <p:blipFill>
          <a:blip r:embed="rId4"/>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页">
    <p:spTree>
      <p:nvGrpSpPr>
        <p:cNvPr id="1" name=""/>
        <p:cNvGrpSpPr/>
        <p:nvPr/>
      </p:nvGrpSpPr>
      <p:grpSpPr>
        <a:xfrm>
          <a:off x="0" y="0"/>
          <a:ext cx="0" cy="0"/>
          <a:chOff x="0" y="0"/>
          <a:chExt cx="0" cy="0"/>
        </a:xfrm>
      </p:grpSpPr>
      <p:grpSp>
        <p:nvGrpSpPr>
          <p:cNvPr id="3" name="组合 2"/>
          <p:cNvGrpSpPr/>
          <p:nvPr userDrawn="1"/>
        </p:nvGrpSpPr>
        <p:grpSpPr>
          <a:xfrm>
            <a:off x="1" y="0"/>
            <a:ext cx="7455877" cy="6858000"/>
            <a:chOff x="0" y="0"/>
            <a:chExt cx="8199783" cy="6858000"/>
          </a:xfrm>
        </p:grpSpPr>
        <p:sp>
          <p:nvSpPr>
            <p:cNvPr id="4" name="矩形 3"/>
            <p:cNvSpPr/>
            <p:nvPr/>
          </p:nvSpPr>
          <p:spPr>
            <a:xfrm>
              <a:off x="3514089" y="0"/>
              <a:ext cx="4685694" cy="6858000"/>
            </a:xfrm>
            <a:prstGeom prst="rect">
              <a:avLst/>
            </a:prstGeom>
            <a:gradFill>
              <a:gsLst>
                <a:gs pos="100000">
                  <a:schemeClr val="accent1">
                    <a:lumMod val="75000"/>
                    <a:alpha val="0"/>
                  </a:schemeClr>
                </a:gs>
                <a:gs pos="0">
                  <a:schemeClr val="accent1">
                    <a:lumMod val="7500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flipV="1">
              <a:off x="0" y="0"/>
              <a:ext cx="3771127" cy="6858000"/>
            </a:xfrm>
            <a:prstGeom prst="rect">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微软雅黑" panose="020B0503020204020204" pitchFamily="34" charset="-122"/>
                <a:ea typeface="微软雅黑" panose="020B0503020204020204" pitchFamily="34" charset="-122"/>
                <a:sym typeface="Arial" panose="020B0604020202090204" pitchFamily="34" charset="0"/>
              </a:endParaRPr>
            </a:p>
          </p:txBody>
        </p:sp>
      </p:grpSp>
      <p:pic>
        <p:nvPicPr>
          <p:cNvPr id="2" name="图片 1"/>
          <p:cNvPicPr>
            <a:picLocks noChangeAspect="1"/>
          </p:cNvPicPr>
          <p:nvPr userDrawn="1"/>
        </p:nvPicPr>
        <p:blipFill>
          <a:blip r:embed="rId2"/>
          <a:stretch>
            <a:fillRect/>
          </a:stretch>
        </p:blipFill>
        <p:spPr>
          <a:xfrm>
            <a:off x="10694905" y="256215"/>
            <a:ext cx="938449" cy="71516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21"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6"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等腰三角形 24"/>
          <p:cNvSpPr/>
          <p:nvPr userDrawn="1"/>
        </p:nvSpPr>
        <p:spPr>
          <a:xfrm>
            <a:off x="2104806"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8"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29"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0"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33"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34"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35"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4"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1"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2"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3"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54"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5"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6"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7" name="等腰三角形 56"/>
          <p:cNvSpPr/>
          <p:nvPr userDrawn="1"/>
        </p:nvSpPr>
        <p:spPr>
          <a:xfrm>
            <a:off x="4303993"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22860"/>
            <a:ext cx="12192000" cy="6858000"/>
          </a:xfrm>
          <a:prstGeom prst="rect">
            <a:avLst/>
          </a:prstGeom>
        </p:spPr>
      </p:pic>
      <p:sp>
        <p:nvSpPr>
          <p:cNvPr id="44"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1"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2"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3"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54"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5"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6"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7" name="等腰三角形 56"/>
          <p:cNvSpPr/>
          <p:nvPr userDrawn="1"/>
        </p:nvSpPr>
        <p:spPr>
          <a:xfrm>
            <a:off x="6468461"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615"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8"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49"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0"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cxnSp>
        <p:nvCxnSpPr>
          <p:cNvPr id="51"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2"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3"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4" name="等腰三角形 53"/>
          <p:cNvSpPr/>
          <p:nvPr userDrawn="1"/>
        </p:nvSpPr>
        <p:spPr>
          <a:xfrm>
            <a:off x="8447739"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1" y="-121920"/>
            <a:ext cx="12192000" cy="6858000"/>
          </a:xfrm>
          <a:prstGeom prst="rect">
            <a:avLst/>
          </a:prstGeom>
        </p:spPr>
      </p:pic>
      <p:sp>
        <p:nvSpPr>
          <p:cNvPr id="1048615"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
        <p:nvSpPr>
          <p:cNvPr id="3" name="矩形 2"/>
          <p:cNvSpPr/>
          <p:nvPr userDrawn="1"/>
        </p:nvSpPr>
        <p:spPr>
          <a:xfrm>
            <a:off x="0" y="6732871"/>
            <a:ext cx="12192000" cy="125129"/>
          </a:xfrm>
          <a:prstGeom prst="rect">
            <a:avLst/>
          </a:prstGeom>
          <a:gradFill flip="none" rotWithShape="1">
            <a:gsLst>
              <a:gs pos="0">
                <a:schemeClr val="accent1">
                  <a:alpha val="90000"/>
                </a:schemeClr>
              </a:gs>
              <a:gs pos="50000">
                <a:schemeClr val="accent1"/>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615" name="矩形 6"/>
          <p:cNvSpPr/>
          <p:nvPr userDrawn="1"/>
        </p:nvSpPr>
        <p:spPr>
          <a:xfrm>
            <a:off x="0" y="121920"/>
            <a:ext cx="12191999"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6" name="Freeform 5"/>
          <p:cNvSpPr>
            <a:spLocks noEditPoints="1"/>
          </p:cNvSpPr>
          <p:nvPr userDrawn="1"/>
        </p:nvSpPr>
        <p:spPr bwMode="auto">
          <a:xfrm>
            <a:off x="155326"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等腰三角形 24"/>
          <p:cNvSpPr/>
          <p:nvPr userDrawn="1"/>
        </p:nvSpPr>
        <p:spPr>
          <a:xfrm>
            <a:off x="9211712" y="506753"/>
            <a:ext cx="190252" cy="1739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
          <p:cNvSpPr/>
          <p:nvPr userDrawn="1"/>
        </p:nvSpPr>
        <p:spPr>
          <a:xfrm>
            <a:off x="826750" y="190342"/>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7" name="矩形 4"/>
          <p:cNvSpPr/>
          <p:nvPr userDrawn="1"/>
        </p:nvSpPr>
        <p:spPr>
          <a:xfrm>
            <a:off x="2833217" y="200733"/>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研究现状与趋势</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8" name="矩形 5"/>
          <p:cNvSpPr/>
          <p:nvPr userDrawn="1"/>
        </p:nvSpPr>
        <p:spPr>
          <a:xfrm>
            <a:off x="4818353" y="190342"/>
            <a:ext cx="172354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关键理论技术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9" name="矩形 6"/>
          <p:cNvSpPr/>
          <p:nvPr userDrawn="1"/>
        </p:nvSpPr>
        <p:spPr>
          <a:xfrm>
            <a:off x="6581331" y="200733"/>
            <a:ext cx="172354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研究方案规划</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连接符 9"/>
          <p:cNvCxnSpPr/>
          <p:nvPr userDrawn="1"/>
        </p:nvCxnSpPr>
        <p:spPr>
          <a:xfrm>
            <a:off x="2796089"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41" name="直接连接符 28"/>
          <p:cNvCxnSpPr/>
          <p:nvPr userDrawn="1"/>
        </p:nvCxnSpPr>
        <p:spPr>
          <a:xfrm>
            <a:off x="4797295"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42" name="直接连接符 29"/>
          <p:cNvCxnSpPr/>
          <p:nvPr userDrawn="1"/>
        </p:nvCxnSpPr>
        <p:spPr>
          <a:xfrm>
            <a:off x="6528817"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内容页2">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9584" name="标题 1"/>
          <p:cNvSpPr>
            <a:spLocks noGrp="1"/>
          </p:cNvSpPr>
          <p:nvPr>
            <p:ph type="title"/>
          </p:nvPr>
        </p:nvSpPr>
        <p:spPr>
          <a:xfrm>
            <a:off x="1302657" y="337014"/>
            <a:ext cx="5258480" cy="682623"/>
          </a:xfrm>
        </p:spPr>
        <p:txBody>
          <a:bodyPr>
            <a:no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049585"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049586"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91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913" name="直接连接符 6"/>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结尾页1">
    <p:bg>
      <p:bgPr>
        <a:solidFill>
          <a:schemeClr val="accent1"/>
        </a:solidFill>
        <a:effectLst/>
      </p:bgPr>
    </p:bg>
    <p:spTree>
      <p:nvGrpSpPr>
        <p:cNvPr id="1" name=""/>
        <p:cNvGrpSpPr/>
        <p:nvPr/>
      </p:nvGrpSpPr>
      <p:grpSpPr>
        <a:xfrm>
          <a:off x="0" y="0"/>
          <a:ext cx="0" cy="0"/>
          <a:chOff x="0" y="0"/>
          <a:chExt cx="0" cy="0"/>
        </a:xfrm>
      </p:grpSpPr>
      <p:sp>
        <p:nvSpPr>
          <p:cNvPr id="1049400" name="标题 1"/>
          <p:cNvSpPr>
            <a:spLocks noGrp="1"/>
          </p:cNvSpPr>
          <p:nvPr>
            <p:ph type="ctrTitle"/>
          </p:nvPr>
        </p:nvSpPr>
        <p:spPr>
          <a:xfrm>
            <a:off x="1524000" y="2544006"/>
            <a:ext cx="9144000" cy="813556"/>
          </a:xfrm>
        </p:spPr>
        <p:txBody>
          <a:bodyPr/>
          <a:lstStyle/>
          <a:p>
            <a:endParaRPr lang="zh-CN" altLang="en-US"/>
          </a:p>
        </p:txBody>
      </p:sp>
      <p:sp>
        <p:nvSpPr>
          <p:cNvPr id="21" name="任意多边形: 形状 20"/>
          <p:cNvSpPr/>
          <p:nvPr userDrawn="1"/>
        </p:nvSpPr>
        <p:spPr>
          <a:xfrm>
            <a:off x="0" y="2544006"/>
            <a:ext cx="12192000" cy="3176074"/>
          </a:xfrm>
          <a:custGeom>
            <a:avLst/>
            <a:gdLst>
              <a:gd name="connsiteX0" fmla="*/ 0 w 12192000"/>
              <a:gd name="connsiteY0" fmla="*/ 0 h 2114362"/>
              <a:gd name="connsiteX1" fmla="*/ 12192000 w 12192000"/>
              <a:gd name="connsiteY1" fmla="*/ 0 h 2114362"/>
              <a:gd name="connsiteX2" fmla="*/ 12192000 w 12192000"/>
              <a:gd name="connsiteY2" fmla="*/ 2114362 h 2114362"/>
              <a:gd name="connsiteX3" fmla="*/ 0 w 12192000"/>
              <a:gd name="connsiteY3" fmla="*/ 2114362 h 2114362"/>
            </a:gdLst>
            <a:ahLst/>
            <a:cxnLst>
              <a:cxn ang="0">
                <a:pos x="connsiteX0" y="connsiteY0"/>
              </a:cxn>
              <a:cxn ang="0">
                <a:pos x="connsiteX1" y="connsiteY1"/>
              </a:cxn>
              <a:cxn ang="0">
                <a:pos x="connsiteX2" y="connsiteY2"/>
              </a:cxn>
              <a:cxn ang="0">
                <a:pos x="connsiteX3" y="connsiteY3"/>
              </a:cxn>
            </a:cxnLst>
            <a:rect l="l" t="t" r="r" b="b"/>
            <a:pathLst>
              <a:path w="12192000" h="2114362">
                <a:moveTo>
                  <a:pt x="0" y="0"/>
                </a:moveTo>
                <a:lnTo>
                  <a:pt x="12192000" y="0"/>
                </a:lnTo>
                <a:lnTo>
                  <a:pt x="12192000" y="2114362"/>
                </a:lnTo>
                <a:lnTo>
                  <a:pt x="0" y="21143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9402" name="六边形 14"/>
          <p:cNvSpPr/>
          <p:nvPr userDrawn="1"/>
        </p:nvSpPr>
        <p:spPr>
          <a:xfrm flipH="1">
            <a:off x="8436660" y="273063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3" name="TextBox 1"/>
          <p:cNvSpPr txBox="1">
            <a:spLocks noChangeArrowheads="1"/>
          </p:cNvSpPr>
          <p:nvPr/>
        </p:nvSpPr>
        <p:spPr bwMode="auto">
          <a:xfrm>
            <a:off x="3876815" y="2681635"/>
            <a:ext cx="4514663" cy="1107996"/>
          </a:xfrm>
          <a:prstGeom prst="rect">
            <a:avLst/>
          </a:prstGeom>
          <a:noFill/>
          <a:ln>
            <a:noFill/>
          </a:ln>
        </p:spPr>
        <p:txBody>
          <a:bodyPr wrap="none">
            <a:no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eaLnBrk="1" hangingPunct="1"/>
            <a:r>
              <a:rPr lang="zh-CN" altLang="en-US" sz="3600" b="1" dirty="0">
                <a:solidFill>
                  <a:schemeClr val="accent1"/>
                </a:solidFill>
                <a:latin typeface="+mn-lt"/>
                <a:ea typeface="微软雅黑" panose="020B0503020204020204" pitchFamily="34" charset="-122"/>
              </a:rPr>
              <a:t>请老师同学批评指正</a:t>
            </a:r>
            <a:endParaRPr lang="zh-CN" altLang="en-US" sz="3600" b="1" dirty="0">
              <a:solidFill>
                <a:schemeClr val="accent1"/>
              </a:solidFill>
              <a:latin typeface="+mn-lt"/>
              <a:ea typeface="微软雅黑" panose="020B0503020204020204" pitchFamily="34" charset="-122"/>
            </a:endParaRPr>
          </a:p>
        </p:txBody>
      </p:sp>
      <p:sp>
        <p:nvSpPr>
          <p:cNvPr id="1049405" name="Freeform 5"/>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9406" name="六边形 12"/>
          <p:cNvSpPr/>
          <p:nvPr userDrawn="1"/>
        </p:nvSpPr>
        <p:spPr>
          <a:xfrm>
            <a:off x="3417633" y="273063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7" name="六边形 13"/>
          <p:cNvSpPr/>
          <p:nvPr userDrawn="1"/>
        </p:nvSpPr>
        <p:spPr>
          <a:xfrm flipH="1">
            <a:off x="7977478" y="273063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8" name="六边形 16"/>
          <p:cNvSpPr/>
          <p:nvPr userDrawn="1"/>
        </p:nvSpPr>
        <p:spPr>
          <a:xfrm>
            <a:off x="3003633" y="273063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lum bright="70000" contrast="-70000"/>
          </a:blip>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grpSp>
        <p:nvGrpSpPr>
          <p:cNvPr id="14" name="组合 13"/>
          <p:cNvGrpSpPr/>
          <p:nvPr/>
        </p:nvGrpSpPr>
        <p:grpSpPr>
          <a:xfrm>
            <a:off x="11518017" y="6309985"/>
            <a:ext cx="600076" cy="457200"/>
            <a:chOff x="8055630" y="1717440"/>
            <a:chExt cx="600076" cy="457200"/>
          </a:xfrm>
        </p:grpSpPr>
        <p:sp>
          <p:nvSpPr>
            <p:cNvPr id="16" name="椭圆 15"/>
            <p:cNvSpPr/>
            <p:nvPr/>
          </p:nvSpPr>
          <p:spPr bwMode="auto">
            <a:xfrm>
              <a:off x="8055630" y="1720615"/>
              <a:ext cx="58738" cy="587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7" name="椭圆 16"/>
            <p:cNvSpPr/>
            <p:nvPr/>
          </p:nvSpPr>
          <p:spPr bwMode="auto">
            <a:xfrm>
              <a:off x="8190568" y="1719027"/>
              <a:ext cx="60325" cy="60325"/>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8" name="椭圆 17"/>
            <p:cNvSpPr/>
            <p:nvPr/>
          </p:nvSpPr>
          <p:spPr bwMode="auto">
            <a:xfrm>
              <a:off x="8323918" y="1719027"/>
              <a:ext cx="61913" cy="619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9" name="椭圆 18"/>
            <p:cNvSpPr/>
            <p:nvPr/>
          </p:nvSpPr>
          <p:spPr bwMode="auto">
            <a:xfrm>
              <a:off x="8458855" y="1717440"/>
              <a:ext cx="63500" cy="6350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0" name="椭圆 19"/>
            <p:cNvSpPr/>
            <p:nvPr/>
          </p:nvSpPr>
          <p:spPr bwMode="auto">
            <a:xfrm>
              <a:off x="8593793" y="1719027"/>
              <a:ext cx="61913" cy="619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1" name="椭圆 20"/>
            <p:cNvSpPr/>
            <p:nvPr/>
          </p:nvSpPr>
          <p:spPr bwMode="auto">
            <a:xfrm>
              <a:off x="8060393" y="1858727"/>
              <a:ext cx="50800" cy="5080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2" name="椭圆 21"/>
            <p:cNvSpPr/>
            <p:nvPr/>
          </p:nvSpPr>
          <p:spPr bwMode="auto">
            <a:xfrm>
              <a:off x="8193743" y="1858727"/>
              <a:ext cx="53975" cy="523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3" name="椭圆 22"/>
            <p:cNvSpPr/>
            <p:nvPr/>
          </p:nvSpPr>
          <p:spPr bwMode="auto">
            <a:xfrm>
              <a:off x="8328680"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4" name="椭圆 23"/>
            <p:cNvSpPr/>
            <p:nvPr/>
          </p:nvSpPr>
          <p:spPr bwMode="auto">
            <a:xfrm>
              <a:off x="8463618"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5" name="椭圆 24"/>
            <p:cNvSpPr/>
            <p:nvPr/>
          </p:nvSpPr>
          <p:spPr bwMode="auto">
            <a:xfrm>
              <a:off x="8598555"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6" name="椭圆 25"/>
            <p:cNvSpPr/>
            <p:nvPr/>
          </p:nvSpPr>
          <p:spPr bwMode="auto">
            <a:xfrm>
              <a:off x="8063568" y="1996840"/>
              <a:ext cx="42863" cy="4445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7" name="椭圆 26"/>
            <p:cNvSpPr/>
            <p:nvPr/>
          </p:nvSpPr>
          <p:spPr bwMode="auto">
            <a:xfrm>
              <a:off x="8196918" y="1996840"/>
              <a:ext cx="46038"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8" name="椭圆 27"/>
            <p:cNvSpPr/>
            <p:nvPr/>
          </p:nvSpPr>
          <p:spPr bwMode="auto">
            <a:xfrm>
              <a:off x="8331855"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9" name="椭圆 28"/>
            <p:cNvSpPr/>
            <p:nvPr/>
          </p:nvSpPr>
          <p:spPr bwMode="auto">
            <a:xfrm>
              <a:off x="8466793"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0" name="椭圆 29"/>
            <p:cNvSpPr/>
            <p:nvPr/>
          </p:nvSpPr>
          <p:spPr bwMode="auto">
            <a:xfrm>
              <a:off x="8601730"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1" name="椭圆 30"/>
            <p:cNvSpPr/>
            <p:nvPr/>
          </p:nvSpPr>
          <p:spPr bwMode="auto">
            <a:xfrm>
              <a:off x="8068330" y="2136540"/>
              <a:ext cx="34925" cy="365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2" name="椭圆 31"/>
            <p:cNvSpPr/>
            <p:nvPr/>
          </p:nvSpPr>
          <p:spPr bwMode="auto">
            <a:xfrm>
              <a:off x="8201680" y="2136540"/>
              <a:ext cx="38100" cy="365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3" name="椭圆 32"/>
            <p:cNvSpPr/>
            <p:nvPr/>
          </p:nvSpPr>
          <p:spPr bwMode="auto">
            <a:xfrm>
              <a:off x="8336618"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4" name="椭圆 33"/>
            <p:cNvSpPr/>
            <p:nvPr/>
          </p:nvSpPr>
          <p:spPr bwMode="auto">
            <a:xfrm>
              <a:off x="8471555"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5" name="椭圆 34"/>
            <p:cNvSpPr/>
            <p:nvPr/>
          </p:nvSpPr>
          <p:spPr bwMode="auto">
            <a:xfrm>
              <a:off x="8606493"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581" name="PA_矩形 44"/>
          <p:cNvSpPr/>
          <p:nvPr userDrawn="1">
            <p:custDataLst>
              <p:tags r:id="rId4"/>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82" name="PA_任意多边形 5"/>
          <p:cNvSpPr>
            <a:spLocks noEditPoints="1"/>
          </p:cNvSpPr>
          <p:nvPr userDrawn="1">
            <p:custDataLst>
              <p:tags r:id="rId5"/>
            </p:custDataLst>
          </p:nvPr>
        </p:nvSpPr>
        <p:spPr bwMode="auto">
          <a:xfrm>
            <a:off x="985905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048583" name="PA_等腰三角形 11"/>
          <p:cNvSpPr/>
          <p:nvPr userDrawn="1">
            <p:custDataLst>
              <p:tags r:id="rId6"/>
            </p:custDataLst>
          </p:nvPr>
        </p:nvSpPr>
        <p:spPr>
          <a:xfrm flipV="1">
            <a:off x="1023689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48584" name="文本占位符 10"/>
          <p:cNvSpPr>
            <a:spLocks noGrp="1"/>
          </p:cNvSpPr>
          <p:nvPr>
            <p:ph type="body" sz="quarter" idx="10" hasCustomPrompt="1"/>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lvl2pPr>
          </a:lstStyle>
          <a:p>
            <a:pPr lvl="0"/>
            <a:r>
              <a:rPr lang="zh-CN" altLang="en-US" dirty="0"/>
              <a:t>编辑母版文本样</a:t>
            </a:r>
            <a:endParaRPr lang="zh-CN" altLang="en-US" dirty="0"/>
          </a:p>
        </p:txBody>
      </p:sp>
      <p:sp>
        <p:nvSpPr>
          <p:cNvPr id="1048585" name="文本占位符 15"/>
          <p:cNvSpPr>
            <a:spLocks noGrp="1"/>
          </p:cNvSpPr>
          <p:nvPr>
            <p:ph type="body" sz="quarter" idx="11" hasCustomPrompt="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lvl2pPr>
            <a:lvl5pPr marL="1828800" indent="0">
              <a:buNone/>
            </a:lvl5pPr>
          </a:lstStyle>
          <a:p>
            <a:pPr lvl="0"/>
            <a:r>
              <a:rPr lang="zh-CN" altLang="en-US" dirty="0"/>
              <a:t>编辑母版文本样式</a:t>
            </a:r>
            <a:endParaRPr lang="zh-CN" altLang="en-US" dirty="0"/>
          </a:p>
        </p:txBody>
      </p:sp>
      <p:pic>
        <p:nvPicPr>
          <p:cNvPr id="10" name="图片 9"/>
          <p:cNvPicPr>
            <a:picLocks noChangeAspect="1"/>
          </p:cNvPicPr>
          <p:nvPr userDrawn="1"/>
        </p:nvPicPr>
        <p:blipFill>
          <a:blip r:embed="rId7"/>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9450" name="矩形 5"/>
          <p:cNvSpPr/>
          <p:nvPr userDrawn="1"/>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049451" name="矩形 6"/>
          <p:cNvSpPr/>
          <p:nvPr userDrawn="1"/>
        </p:nvSpPr>
        <p:spPr>
          <a:xfrm>
            <a:off x="682590" y="2182609"/>
            <a:ext cx="2736000" cy="197556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49452" name="文本框 7"/>
          <p:cNvSpPr txBox="1"/>
          <p:nvPr userDrawn="1"/>
        </p:nvSpPr>
        <p:spPr>
          <a:xfrm>
            <a:off x="566829" y="2605275"/>
            <a:ext cx="2967522" cy="1015663"/>
          </a:xfrm>
          <a:prstGeom prst="rect">
            <a:avLst/>
          </a:prstGeom>
          <a:noFill/>
          <a:ln>
            <a:noFill/>
          </a:ln>
        </p:spPr>
        <p:txBody>
          <a:bodyPr wrap="square" rtlCol="0">
            <a:noAutofit/>
          </a:bodyPr>
          <a:lstStyle/>
          <a:p>
            <a:pPr algn="ctr"/>
            <a:r>
              <a:rPr lang="zh-CN" altLang="en-US" sz="6000" b="1" dirty="0">
                <a:solidFill>
                  <a:schemeClr val="bg1"/>
                </a:solidFill>
                <a:latin typeface="+mn-ea"/>
                <a:cs typeface="Times New Roman" panose="02020503050405090304" pitchFamily="18" charset="0"/>
              </a:rPr>
              <a:t>目录</a:t>
            </a:r>
            <a:endParaRPr lang="zh-CN" altLang="en-US" sz="6000" b="1" dirty="0">
              <a:solidFill>
                <a:schemeClr val="bg1"/>
              </a:solidFill>
              <a:latin typeface="+mn-ea"/>
              <a:cs typeface="Times New Roman" panose="02020503050405090304" pitchFamily="18" charset="0"/>
            </a:endParaRPr>
          </a:p>
        </p:txBody>
      </p:sp>
      <p:sp>
        <p:nvSpPr>
          <p:cNvPr id="1049453" name="Freeform 5"/>
          <p:cNvSpPr>
            <a:spLocks noChangeAspect="1" noEditPoints="1"/>
          </p:cNvSpPr>
          <p:nvPr userDrawn="1"/>
        </p:nvSpPr>
        <p:spPr bwMode="auto">
          <a:xfrm>
            <a:off x="1343972" y="1403827"/>
            <a:ext cx="1451056" cy="129600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49454" name="矩形 9"/>
          <p:cNvSpPr/>
          <p:nvPr userDrawn="1"/>
        </p:nvSpPr>
        <p:spPr>
          <a:xfrm>
            <a:off x="1241036" y="3525075"/>
            <a:ext cx="1598515" cy="400110"/>
          </a:xfrm>
          <a:prstGeom prst="rect">
            <a:avLst/>
          </a:prstGeom>
        </p:spPr>
        <p:txBody>
          <a:bodyPr wrap="none">
            <a:noAutofit/>
          </a:bodyPr>
          <a:lstStyle/>
          <a:p>
            <a:r>
              <a:rPr lang="en-US" altLang="zh-CN" sz="2000" dirty="0">
                <a:solidFill>
                  <a:schemeClr val="bg1"/>
                </a:solidFill>
              </a:rPr>
              <a:t>CONTENTS</a:t>
            </a:r>
            <a:endParaRPr lang="en-US" altLang="zh-CN" sz="2000" dirty="0">
              <a:solidFill>
                <a:schemeClr val="bg1"/>
              </a:solidFill>
            </a:endParaRPr>
          </a:p>
        </p:txBody>
      </p:sp>
      <p:pic>
        <p:nvPicPr>
          <p:cNvPr id="2" name="图片 1"/>
          <p:cNvPicPr>
            <a:picLocks noChangeAspect="1"/>
          </p:cNvPicPr>
          <p:nvPr userDrawn="1"/>
        </p:nvPicPr>
        <p:blipFill>
          <a:blip r:embed="rId4"/>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792" name="矩形 5"/>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93" name="椭圆 6"/>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94" name="Freeform 5"/>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48795" name="文本占位符 10"/>
          <p:cNvSpPr>
            <a:spLocks noGrp="1"/>
          </p:cNvSpPr>
          <p:nvPr>
            <p:ph type="body" sz="quarter" idx="10" hasCustomPrompt="1"/>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endParaRPr lang="zh-CN" altLang="en-US" dirty="0"/>
          </a:p>
        </p:txBody>
      </p:sp>
      <p:pic>
        <p:nvPicPr>
          <p:cNvPr id="2" name="图片 1"/>
          <p:cNvPicPr>
            <a:picLocks noChangeAspect="1"/>
          </p:cNvPicPr>
          <p:nvPr userDrawn="1"/>
        </p:nvPicPr>
        <p:blipFill>
          <a:blip r:embed="rId4"/>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页">
    <p:spTree>
      <p:nvGrpSpPr>
        <p:cNvPr id="1" name=""/>
        <p:cNvGrpSpPr/>
        <p:nvPr/>
      </p:nvGrpSpPr>
      <p:grpSpPr>
        <a:xfrm>
          <a:off x="0" y="0"/>
          <a:ext cx="0" cy="0"/>
          <a:chOff x="0" y="0"/>
          <a:chExt cx="0" cy="0"/>
        </a:xfrm>
      </p:grpSpPr>
      <p:grpSp>
        <p:nvGrpSpPr>
          <p:cNvPr id="3" name="组合 2"/>
          <p:cNvGrpSpPr/>
          <p:nvPr userDrawn="1"/>
        </p:nvGrpSpPr>
        <p:grpSpPr>
          <a:xfrm>
            <a:off x="1" y="0"/>
            <a:ext cx="7455877" cy="6858000"/>
            <a:chOff x="0" y="0"/>
            <a:chExt cx="8199783" cy="6858000"/>
          </a:xfrm>
        </p:grpSpPr>
        <p:sp>
          <p:nvSpPr>
            <p:cNvPr id="4" name="矩形 3"/>
            <p:cNvSpPr/>
            <p:nvPr/>
          </p:nvSpPr>
          <p:spPr>
            <a:xfrm>
              <a:off x="3514089" y="0"/>
              <a:ext cx="4685694" cy="6858000"/>
            </a:xfrm>
            <a:prstGeom prst="rect">
              <a:avLst/>
            </a:prstGeom>
            <a:gradFill>
              <a:gsLst>
                <a:gs pos="100000">
                  <a:schemeClr val="accent1">
                    <a:lumMod val="75000"/>
                    <a:alpha val="0"/>
                  </a:schemeClr>
                </a:gs>
                <a:gs pos="0">
                  <a:schemeClr val="accent1">
                    <a:lumMod val="7500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flipV="1">
              <a:off x="0" y="0"/>
              <a:ext cx="3771127" cy="6858000"/>
            </a:xfrm>
            <a:prstGeom prst="rect">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微软雅黑" panose="020B0503020204020204" pitchFamily="34" charset="-122"/>
                <a:ea typeface="微软雅黑" panose="020B0503020204020204" pitchFamily="34" charset="-122"/>
                <a:sym typeface="Arial" panose="020B0604020202090204" pitchFamily="34" charset="0"/>
              </a:endParaRPr>
            </a:p>
          </p:txBody>
        </p:sp>
      </p:grpSp>
      <p:pic>
        <p:nvPicPr>
          <p:cNvPr id="2" name="图片 1"/>
          <p:cNvPicPr>
            <a:picLocks noChangeAspect="1"/>
          </p:cNvPicPr>
          <p:nvPr userDrawn="1"/>
        </p:nvPicPr>
        <p:blipFill>
          <a:blip r:embed="rId2"/>
          <a:stretch>
            <a:fillRect/>
          </a:stretch>
        </p:blipFill>
        <p:spPr>
          <a:xfrm>
            <a:off x="10694905" y="256215"/>
            <a:ext cx="938449" cy="71516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21"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6"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等腰三角形 24"/>
          <p:cNvSpPr/>
          <p:nvPr userDrawn="1"/>
        </p:nvSpPr>
        <p:spPr>
          <a:xfrm>
            <a:off x="2104806"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8"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29"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0"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33"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34"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35"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4"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1"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bg1"/>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2"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3"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54"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5"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6"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7" name="等腰三角形 56"/>
          <p:cNvSpPr/>
          <p:nvPr userDrawn="1"/>
        </p:nvSpPr>
        <p:spPr>
          <a:xfrm>
            <a:off x="4303993"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22860"/>
            <a:ext cx="12192000" cy="6858000"/>
          </a:xfrm>
          <a:prstGeom prst="rect">
            <a:avLst/>
          </a:prstGeom>
        </p:spPr>
      </p:pic>
      <p:sp>
        <p:nvSpPr>
          <p:cNvPr id="44"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1"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2"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3"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54"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5"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6"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7" name="等腰三角形 56"/>
          <p:cNvSpPr/>
          <p:nvPr userDrawn="1"/>
        </p:nvSpPr>
        <p:spPr>
          <a:xfrm>
            <a:off x="6468461"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615"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矩形 3"/>
          <p:cNvSpPr/>
          <p:nvPr userDrawn="1"/>
        </p:nvSpPr>
        <p:spPr>
          <a:xfrm>
            <a:off x="1197142" y="190184"/>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8" name="矩形 4"/>
          <p:cNvSpPr/>
          <p:nvPr userDrawn="1"/>
        </p:nvSpPr>
        <p:spPr>
          <a:xfrm>
            <a:off x="3389127" y="190184"/>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内容</a:t>
            </a: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思路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49" name="矩形 5"/>
          <p:cNvSpPr/>
          <p:nvPr userDrawn="1"/>
        </p:nvSpPr>
        <p:spPr>
          <a:xfrm>
            <a:off x="5559146" y="190342"/>
            <a:ext cx="194781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方案测试与评估</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50" name="矩形 6"/>
          <p:cNvSpPr/>
          <p:nvPr userDrawn="1"/>
        </p:nvSpPr>
        <p:spPr>
          <a:xfrm>
            <a:off x="7775829" y="189154"/>
            <a:ext cx="1507068"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总结与展望</a:t>
            </a:r>
            <a:endParaRPr kumimoji="0" lang="zh-CN" altLang="en-US" sz="20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cxnSp>
        <p:nvCxnSpPr>
          <p:cNvPr id="51" name="直接连接符 9"/>
          <p:cNvCxnSpPr/>
          <p:nvPr userDrawn="1"/>
        </p:nvCxnSpPr>
        <p:spPr>
          <a:xfrm>
            <a:off x="3259082"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2" name="直接连接符 28"/>
          <p:cNvCxnSpPr/>
          <p:nvPr userDrawn="1"/>
        </p:nvCxnSpPr>
        <p:spPr>
          <a:xfrm>
            <a:off x="5445488"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53" name="直接连接符 29"/>
          <p:cNvCxnSpPr/>
          <p:nvPr userDrawn="1"/>
        </p:nvCxnSpPr>
        <p:spPr>
          <a:xfrm>
            <a:off x="7613393"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
        <p:nvSpPr>
          <p:cNvPr id="54" name="等腰三角形 53"/>
          <p:cNvSpPr/>
          <p:nvPr userDrawn="1"/>
        </p:nvSpPr>
        <p:spPr>
          <a:xfrm>
            <a:off x="8447739" y="550714"/>
            <a:ext cx="144607" cy="1300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1" y="-121920"/>
            <a:ext cx="12192000" cy="6858000"/>
          </a:xfrm>
          <a:prstGeom prst="rect">
            <a:avLst/>
          </a:prstGeom>
        </p:spPr>
      </p:pic>
      <p:sp>
        <p:nvSpPr>
          <p:cNvPr id="1048615" name="矩形 6"/>
          <p:cNvSpPr/>
          <p:nvPr userDrawn="1"/>
        </p:nvSpPr>
        <p:spPr>
          <a:xfrm>
            <a:off x="0" y="121920"/>
            <a:ext cx="10568691"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矩形 6"/>
          <p:cNvSpPr/>
          <p:nvPr userDrawn="1"/>
        </p:nvSpPr>
        <p:spPr>
          <a:xfrm>
            <a:off x="11594621" y="121920"/>
            <a:ext cx="597380"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5"/>
          <p:cNvSpPr>
            <a:spLocks noEditPoints="1"/>
          </p:cNvSpPr>
          <p:nvPr userDrawn="1"/>
        </p:nvSpPr>
        <p:spPr bwMode="auto">
          <a:xfrm>
            <a:off x="375251"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2" name="图片 1"/>
          <p:cNvPicPr>
            <a:picLocks noChangeAspect="1"/>
          </p:cNvPicPr>
          <p:nvPr userDrawn="1"/>
        </p:nvPicPr>
        <p:blipFill>
          <a:blip r:embed="rId4"/>
          <a:stretch>
            <a:fillRect/>
          </a:stretch>
        </p:blipFill>
        <p:spPr>
          <a:xfrm>
            <a:off x="10612432" y="52407"/>
            <a:ext cx="938449" cy="715163"/>
          </a:xfrm>
          <a:prstGeom prst="rect">
            <a:avLst/>
          </a:prstGeom>
        </p:spPr>
      </p:pic>
      <p:sp>
        <p:nvSpPr>
          <p:cNvPr id="3" name="矩形 2"/>
          <p:cNvSpPr/>
          <p:nvPr userDrawn="1"/>
        </p:nvSpPr>
        <p:spPr>
          <a:xfrm>
            <a:off x="0" y="6732871"/>
            <a:ext cx="12192000" cy="125129"/>
          </a:xfrm>
          <a:prstGeom prst="rect">
            <a:avLst/>
          </a:prstGeom>
          <a:gradFill flip="none" rotWithShape="1">
            <a:gsLst>
              <a:gs pos="0">
                <a:schemeClr val="accent1">
                  <a:alpha val="90000"/>
                </a:schemeClr>
              </a:gs>
              <a:gs pos="50000">
                <a:schemeClr val="accent1"/>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内容页1">
    <p:spTree>
      <p:nvGrpSpPr>
        <p:cNvPr id="1" name=""/>
        <p:cNvGrpSpPr/>
        <p:nvPr/>
      </p:nvGrpSpPr>
      <p:grpSpPr>
        <a:xfrm>
          <a:off x="0" y="0"/>
          <a:ext cx="0" cy="0"/>
          <a:chOff x="0" y="0"/>
          <a:chExt cx="0" cy="0"/>
        </a:xfrm>
      </p:grpSpPr>
      <p:pic>
        <p:nvPicPr>
          <p:cNvPr id="24" name="图片 23"/>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8615" name="矩形 6"/>
          <p:cNvSpPr/>
          <p:nvPr userDrawn="1"/>
        </p:nvSpPr>
        <p:spPr>
          <a:xfrm>
            <a:off x="0" y="121920"/>
            <a:ext cx="12191999" cy="5587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16" name="Freeform 5"/>
          <p:cNvSpPr>
            <a:spLocks noEditPoints="1"/>
          </p:cNvSpPr>
          <p:nvPr userDrawn="1"/>
        </p:nvSpPr>
        <p:spPr bwMode="auto">
          <a:xfrm>
            <a:off x="155326" y="179901"/>
            <a:ext cx="515234" cy="460177"/>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8617"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73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733"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
        <p:nvSpPr>
          <p:cNvPr id="22" name="矩形 26"/>
          <p:cNvSpPr/>
          <p:nvPr userDrawn="1"/>
        </p:nvSpPr>
        <p:spPr>
          <a:xfrm>
            <a:off x="695325" y="87741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7"/>
          <p:cNvSpPr/>
          <p:nvPr userDrawn="1"/>
        </p:nvSpPr>
        <p:spPr>
          <a:xfrm>
            <a:off x="876958" y="964246"/>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等腰三角形 24"/>
          <p:cNvSpPr/>
          <p:nvPr userDrawn="1"/>
        </p:nvSpPr>
        <p:spPr>
          <a:xfrm>
            <a:off x="9211712" y="506753"/>
            <a:ext cx="190252" cy="1739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
          <p:cNvSpPr/>
          <p:nvPr userDrawn="1"/>
        </p:nvSpPr>
        <p:spPr>
          <a:xfrm>
            <a:off x="826750" y="190342"/>
            <a:ext cx="1915954"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课题背景</a:t>
            </a:r>
            <a:r>
              <a:rPr kumimoji="0" lang="zh-CN" altLang="en-US"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与目的</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7" name="矩形 4"/>
          <p:cNvSpPr/>
          <p:nvPr userDrawn="1"/>
        </p:nvSpPr>
        <p:spPr>
          <a:xfrm>
            <a:off x="2833217" y="200733"/>
            <a:ext cx="1931433"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000" b="1" i="0" u="none" strike="noStrike" kern="1200" cap="none" spc="0" normalizeH="0" baseline="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研究现状与趋势</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8" name="矩形 5"/>
          <p:cNvSpPr/>
          <p:nvPr userDrawn="1"/>
        </p:nvSpPr>
        <p:spPr>
          <a:xfrm>
            <a:off x="4818353" y="190342"/>
            <a:ext cx="172354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关键理论技术</a:t>
            </a:r>
            <a:endPar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9" name="矩形 6"/>
          <p:cNvSpPr/>
          <p:nvPr userDrawn="1"/>
        </p:nvSpPr>
        <p:spPr>
          <a:xfrm>
            <a:off x="6581331" y="200733"/>
            <a:ext cx="1723549" cy="4001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rPr>
              <a:t>研究方案规划</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连接符 9"/>
          <p:cNvCxnSpPr/>
          <p:nvPr userDrawn="1"/>
        </p:nvCxnSpPr>
        <p:spPr>
          <a:xfrm>
            <a:off x="2796089"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41" name="直接连接符 28"/>
          <p:cNvCxnSpPr/>
          <p:nvPr userDrawn="1"/>
        </p:nvCxnSpPr>
        <p:spPr>
          <a:xfrm>
            <a:off x="4797295"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cxnSp>
        <p:nvCxnSpPr>
          <p:cNvPr id="42" name="直接连接符 29"/>
          <p:cNvCxnSpPr/>
          <p:nvPr userDrawn="1"/>
        </p:nvCxnSpPr>
        <p:spPr>
          <a:xfrm>
            <a:off x="6528817" y="200729"/>
            <a:ext cx="0" cy="400110"/>
          </a:xfrm>
          <a:prstGeom prst="line">
            <a:avLst/>
          </a:prstGeom>
          <a:ln>
            <a:solidFill>
              <a:schemeClr val="bg1">
                <a:lumMod val="85000"/>
              </a:schemeClr>
            </a:solidFill>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内容页2">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1049584" name="标题 1"/>
          <p:cNvSpPr>
            <a:spLocks noGrp="1"/>
          </p:cNvSpPr>
          <p:nvPr>
            <p:ph type="title"/>
          </p:nvPr>
        </p:nvSpPr>
        <p:spPr>
          <a:xfrm>
            <a:off x="1302657" y="337014"/>
            <a:ext cx="5258480" cy="682623"/>
          </a:xfrm>
        </p:spPr>
        <p:txBody>
          <a:bodyPr>
            <a:no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049585"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049586"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3145912"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145913" name="直接连接符 6"/>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尾页1">
    <p:bg>
      <p:bgPr>
        <a:solidFill>
          <a:schemeClr val="accent1"/>
        </a:solidFill>
        <a:effectLst/>
      </p:bgPr>
    </p:bg>
    <p:spTree>
      <p:nvGrpSpPr>
        <p:cNvPr id="1" name=""/>
        <p:cNvGrpSpPr/>
        <p:nvPr/>
      </p:nvGrpSpPr>
      <p:grpSpPr>
        <a:xfrm>
          <a:off x="0" y="0"/>
          <a:ext cx="0" cy="0"/>
          <a:chOff x="0" y="0"/>
          <a:chExt cx="0" cy="0"/>
        </a:xfrm>
      </p:grpSpPr>
      <p:sp>
        <p:nvSpPr>
          <p:cNvPr id="1049400" name="标题 1"/>
          <p:cNvSpPr>
            <a:spLocks noGrp="1"/>
          </p:cNvSpPr>
          <p:nvPr>
            <p:ph type="ctrTitle"/>
          </p:nvPr>
        </p:nvSpPr>
        <p:spPr>
          <a:xfrm>
            <a:off x="1524000" y="2544006"/>
            <a:ext cx="9144000" cy="813556"/>
          </a:xfrm>
        </p:spPr>
        <p:txBody>
          <a:bodyPr/>
          <a:lstStyle/>
          <a:p>
            <a:endParaRPr lang="zh-CN" altLang="en-US"/>
          </a:p>
        </p:txBody>
      </p:sp>
      <p:sp>
        <p:nvSpPr>
          <p:cNvPr id="21" name="任意多边形: 形状 20"/>
          <p:cNvSpPr/>
          <p:nvPr userDrawn="1"/>
        </p:nvSpPr>
        <p:spPr>
          <a:xfrm>
            <a:off x="0" y="2544006"/>
            <a:ext cx="12192000" cy="3176074"/>
          </a:xfrm>
          <a:custGeom>
            <a:avLst/>
            <a:gdLst>
              <a:gd name="connsiteX0" fmla="*/ 0 w 12192000"/>
              <a:gd name="connsiteY0" fmla="*/ 0 h 2114362"/>
              <a:gd name="connsiteX1" fmla="*/ 12192000 w 12192000"/>
              <a:gd name="connsiteY1" fmla="*/ 0 h 2114362"/>
              <a:gd name="connsiteX2" fmla="*/ 12192000 w 12192000"/>
              <a:gd name="connsiteY2" fmla="*/ 2114362 h 2114362"/>
              <a:gd name="connsiteX3" fmla="*/ 0 w 12192000"/>
              <a:gd name="connsiteY3" fmla="*/ 2114362 h 2114362"/>
            </a:gdLst>
            <a:ahLst/>
            <a:cxnLst>
              <a:cxn ang="0">
                <a:pos x="connsiteX0" y="connsiteY0"/>
              </a:cxn>
              <a:cxn ang="0">
                <a:pos x="connsiteX1" y="connsiteY1"/>
              </a:cxn>
              <a:cxn ang="0">
                <a:pos x="connsiteX2" y="connsiteY2"/>
              </a:cxn>
              <a:cxn ang="0">
                <a:pos x="connsiteX3" y="connsiteY3"/>
              </a:cxn>
            </a:cxnLst>
            <a:rect l="l" t="t" r="r" b="b"/>
            <a:pathLst>
              <a:path w="12192000" h="2114362">
                <a:moveTo>
                  <a:pt x="0" y="0"/>
                </a:moveTo>
                <a:lnTo>
                  <a:pt x="12192000" y="0"/>
                </a:lnTo>
                <a:lnTo>
                  <a:pt x="12192000" y="2114362"/>
                </a:lnTo>
                <a:lnTo>
                  <a:pt x="0" y="21143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9402" name="六边形 14"/>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3" name="TextBox 1"/>
          <p:cNvSpPr txBox="1">
            <a:spLocks noChangeArrowheads="1"/>
          </p:cNvSpPr>
          <p:nvPr/>
        </p:nvSpPr>
        <p:spPr bwMode="auto">
          <a:xfrm>
            <a:off x="3876815" y="3234085"/>
            <a:ext cx="4514663" cy="1107996"/>
          </a:xfrm>
          <a:prstGeom prst="rect">
            <a:avLst/>
          </a:prstGeom>
          <a:noFill/>
          <a:ln>
            <a:noFill/>
          </a:ln>
        </p:spPr>
        <p:txBody>
          <a:bodyPr wrap="none">
            <a:no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eaLnBrk="1" hangingPunct="1"/>
            <a:r>
              <a:rPr lang="zh-CN" altLang="en-US" sz="3600" b="1" dirty="0">
                <a:solidFill>
                  <a:schemeClr val="accent1"/>
                </a:solidFill>
                <a:latin typeface="+mn-lt"/>
                <a:ea typeface="微软雅黑" panose="020B0503020204020204" pitchFamily="34" charset="-122"/>
              </a:rPr>
              <a:t>请老师同学批评指正</a:t>
            </a:r>
            <a:endParaRPr lang="zh-CN" altLang="en-US" sz="3600" b="1" dirty="0">
              <a:solidFill>
                <a:schemeClr val="accent1"/>
              </a:solidFill>
              <a:latin typeface="+mn-lt"/>
              <a:ea typeface="微软雅黑" panose="020B0503020204020204" pitchFamily="34" charset="-122"/>
            </a:endParaRPr>
          </a:p>
        </p:txBody>
      </p:sp>
      <p:sp>
        <p:nvSpPr>
          <p:cNvPr id="1049405" name="Freeform 5"/>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49406" name="六边形 12"/>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7" name="六边形 13"/>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408" name="六边形 16"/>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lum bright="70000" contrast="-70000"/>
          </a:blip>
          <a:stretch>
            <a:fillRect/>
          </a:stretch>
        </p:blipFill>
        <p:spPr>
          <a:xfrm>
            <a:off x="10694905" y="256215"/>
            <a:ext cx="938449" cy="715163"/>
          </a:xfrm>
          <a:prstGeom prst="rect">
            <a:avLst/>
          </a:prstGeom>
        </p:spPr>
      </p:pic>
    </p:spTree>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3000" contrast="-5000"/>
                    </a14:imgEffect>
                    <a14:imgEffect>
                      <a14:saturation sat="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grpSp>
        <p:nvGrpSpPr>
          <p:cNvPr id="14" name="组合 13"/>
          <p:cNvGrpSpPr/>
          <p:nvPr/>
        </p:nvGrpSpPr>
        <p:grpSpPr>
          <a:xfrm>
            <a:off x="11518017" y="6309985"/>
            <a:ext cx="600076" cy="457200"/>
            <a:chOff x="8055630" y="1717440"/>
            <a:chExt cx="600076" cy="457200"/>
          </a:xfrm>
        </p:grpSpPr>
        <p:sp>
          <p:nvSpPr>
            <p:cNvPr id="16" name="椭圆 15"/>
            <p:cNvSpPr/>
            <p:nvPr/>
          </p:nvSpPr>
          <p:spPr bwMode="auto">
            <a:xfrm>
              <a:off x="8055630" y="1720615"/>
              <a:ext cx="58738" cy="587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7" name="椭圆 16"/>
            <p:cNvSpPr/>
            <p:nvPr/>
          </p:nvSpPr>
          <p:spPr bwMode="auto">
            <a:xfrm>
              <a:off x="8190568" y="1719027"/>
              <a:ext cx="60325" cy="60325"/>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8" name="椭圆 17"/>
            <p:cNvSpPr/>
            <p:nvPr/>
          </p:nvSpPr>
          <p:spPr bwMode="auto">
            <a:xfrm>
              <a:off x="8323918" y="1719027"/>
              <a:ext cx="61913" cy="619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19" name="椭圆 18"/>
            <p:cNvSpPr/>
            <p:nvPr/>
          </p:nvSpPr>
          <p:spPr bwMode="auto">
            <a:xfrm>
              <a:off x="8458855" y="1717440"/>
              <a:ext cx="63500" cy="6350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0" name="椭圆 19"/>
            <p:cNvSpPr/>
            <p:nvPr/>
          </p:nvSpPr>
          <p:spPr bwMode="auto">
            <a:xfrm>
              <a:off x="8593793" y="1719027"/>
              <a:ext cx="61913" cy="619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1" name="椭圆 20"/>
            <p:cNvSpPr/>
            <p:nvPr/>
          </p:nvSpPr>
          <p:spPr bwMode="auto">
            <a:xfrm>
              <a:off x="8060393" y="1858727"/>
              <a:ext cx="50800" cy="5080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2" name="椭圆 21"/>
            <p:cNvSpPr/>
            <p:nvPr/>
          </p:nvSpPr>
          <p:spPr bwMode="auto">
            <a:xfrm>
              <a:off x="8193743" y="1858727"/>
              <a:ext cx="53975" cy="523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3" name="椭圆 22"/>
            <p:cNvSpPr/>
            <p:nvPr/>
          </p:nvSpPr>
          <p:spPr bwMode="auto">
            <a:xfrm>
              <a:off x="8328680"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4" name="椭圆 23"/>
            <p:cNvSpPr/>
            <p:nvPr/>
          </p:nvSpPr>
          <p:spPr bwMode="auto">
            <a:xfrm>
              <a:off x="8463618"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5" name="椭圆 24"/>
            <p:cNvSpPr/>
            <p:nvPr/>
          </p:nvSpPr>
          <p:spPr bwMode="auto">
            <a:xfrm>
              <a:off x="8598555" y="1857140"/>
              <a:ext cx="53975" cy="5556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6" name="椭圆 25"/>
            <p:cNvSpPr/>
            <p:nvPr/>
          </p:nvSpPr>
          <p:spPr bwMode="auto">
            <a:xfrm>
              <a:off x="8063568" y="1996840"/>
              <a:ext cx="42863" cy="4445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7" name="椭圆 26"/>
            <p:cNvSpPr/>
            <p:nvPr/>
          </p:nvSpPr>
          <p:spPr bwMode="auto">
            <a:xfrm>
              <a:off x="8196918" y="1996840"/>
              <a:ext cx="46038"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8" name="椭圆 27"/>
            <p:cNvSpPr/>
            <p:nvPr/>
          </p:nvSpPr>
          <p:spPr bwMode="auto">
            <a:xfrm>
              <a:off x="8331855"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29" name="椭圆 28"/>
            <p:cNvSpPr/>
            <p:nvPr/>
          </p:nvSpPr>
          <p:spPr bwMode="auto">
            <a:xfrm>
              <a:off x="8466793"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0" name="椭圆 29"/>
            <p:cNvSpPr/>
            <p:nvPr/>
          </p:nvSpPr>
          <p:spPr bwMode="auto">
            <a:xfrm>
              <a:off x="8601730" y="1996840"/>
              <a:ext cx="47625" cy="4603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1" name="椭圆 30"/>
            <p:cNvSpPr/>
            <p:nvPr/>
          </p:nvSpPr>
          <p:spPr bwMode="auto">
            <a:xfrm>
              <a:off x="8068330" y="2136540"/>
              <a:ext cx="34925" cy="365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2" name="椭圆 31"/>
            <p:cNvSpPr/>
            <p:nvPr/>
          </p:nvSpPr>
          <p:spPr bwMode="auto">
            <a:xfrm>
              <a:off x="8201680" y="2136540"/>
              <a:ext cx="38100" cy="36513"/>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3" name="椭圆 32"/>
            <p:cNvSpPr/>
            <p:nvPr/>
          </p:nvSpPr>
          <p:spPr bwMode="auto">
            <a:xfrm>
              <a:off x="8336618"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4" name="椭圆 33"/>
            <p:cNvSpPr/>
            <p:nvPr/>
          </p:nvSpPr>
          <p:spPr bwMode="auto">
            <a:xfrm>
              <a:off x="8471555"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5" name="椭圆 34"/>
            <p:cNvSpPr/>
            <p:nvPr/>
          </p:nvSpPr>
          <p:spPr bwMode="auto">
            <a:xfrm>
              <a:off x="8606493" y="2134952"/>
              <a:ext cx="38100" cy="3968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741C5-8F5C-4213-BB69-8C2D02590C1C}"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93EA9-123D-489F-8313-43A8A4AC456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741C5-8F5C-4213-BB69-8C2D02590C1C}"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93EA9-123D-489F-8313-43A8A4AC456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10.xml"/><Relationship Id="rId4" Type="http://schemas.openxmlformats.org/officeDocument/2006/relationships/image" Target="../media/image4.png"/><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9.xml"/><Relationship Id="rId2" Type="http://schemas.openxmlformats.org/officeDocument/2006/relationships/image" Target="file:///C:\Users\FengSheng\AppData\Local\Temp\wps\INetCache\57a17cb282df29b79ec86ab5f5c75a2f" TargetMode="Externa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9.xml"/><Relationship Id="rId5" Type="http://schemas.openxmlformats.org/officeDocument/2006/relationships/hyperlink" Target="https://github.com/HUSTerCH/exp_3_llm_train&#13;" TargetMode="External"/><Relationship Id="rId4" Type="http://schemas.openxmlformats.org/officeDocument/2006/relationships/hyperlink" Target="https://github.com/HUSTerCH/numpy_nn_lab" TargetMode="External"/><Relationship Id="rId3" Type="http://schemas.openxmlformats.org/officeDocument/2006/relationships/tags" Target="../tags/tag11.xml"/><Relationship Id="rId2" Type="http://schemas.openxmlformats.org/officeDocument/2006/relationships/image" Target="file:///C:\Users\FengSheng\AppData\Local\Temp\wps\INetCache\57a17cb282df29b79ec86ab5f5c75a2f" TargetMode="Externa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PA_文本框 34"/>
          <p:cNvSpPr txBox="1"/>
          <p:nvPr>
            <p:custDataLst>
              <p:tags r:id="rId1"/>
            </p:custDataLst>
          </p:nvPr>
        </p:nvSpPr>
        <p:spPr>
          <a:xfrm>
            <a:off x="-825879" y="3168720"/>
            <a:ext cx="13843756" cy="1115293"/>
          </a:xfrm>
          <a:prstGeom prst="rect">
            <a:avLst/>
          </a:prstGeom>
          <a:noFill/>
        </p:spPr>
        <p:txBody>
          <a:bodyPr wrap="square" rtlCol="0">
            <a:noAutofit/>
          </a:bodyPr>
          <a:lstStyle/>
          <a:p>
            <a:pPr lvl="0" algn="ctr">
              <a:lnSpc>
                <a:spcPct val="125000"/>
              </a:lnSpc>
              <a:defRPr/>
            </a:pPr>
            <a:r>
              <a:rPr lang="zh-CN" altLang="en-US" sz="3600" b="1" dirty="0">
                <a:solidFill>
                  <a:prstClr val="white"/>
                </a:solidFill>
                <a:latin typeface="微软雅黑" panose="020B0503020204020204" pitchFamily="34" charset="-122"/>
                <a:ea typeface="微软雅黑" panose="020B0503020204020204" pitchFamily="34" charset="-122"/>
              </a:rPr>
              <a:t>深度学习实验汇报</a:t>
            </a:r>
            <a:endParaRPr lang="en-US" altLang="zh-CN" sz="3600" b="1" dirty="0">
              <a:solidFill>
                <a:prstClr val="white"/>
              </a:solidFill>
              <a:latin typeface="微软雅黑" panose="020B0503020204020204" pitchFamily="34" charset="-122"/>
              <a:ea typeface="微软雅黑" panose="020B0503020204020204" pitchFamily="34" charset="-122"/>
            </a:endParaRPr>
          </a:p>
          <a:p>
            <a:pPr lvl="0" algn="ctr">
              <a:lnSpc>
                <a:spcPct val="125000"/>
              </a:lnSpc>
              <a:defRPr/>
            </a:pPr>
            <a:r>
              <a:rPr kumimoji="0" lang="zh-CN" altLang="en-US" sz="220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实验三：大模型</a:t>
            </a:r>
            <a:r>
              <a:rPr kumimoji="0" lang="zh-CN" altLang="en-US" sz="220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微调</a:t>
            </a:r>
            <a:endParaRPr kumimoji="0" lang="zh-CN" altLang="en-US" sz="220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3145730" name="PA_直接连接符 4"/>
          <p:cNvCxnSpPr/>
          <p:nvPr>
            <p:custDataLst>
              <p:tags r:id="rId2"/>
            </p:custDataLst>
          </p:nvPr>
        </p:nvCxnSpPr>
        <p:spPr>
          <a:xfrm>
            <a:off x="1028700" y="3555331"/>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145731" name="PA_直接连接符 52"/>
          <p:cNvCxnSpPr/>
          <p:nvPr>
            <p:custDataLst>
              <p:tags r:id="rId3"/>
            </p:custDataLst>
          </p:nvPr>
        </p:nvCxnSpPr>
        <p:spPr>
          <a:xfrm>
            <a:off x="8863600" y="3551272"/>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2097152" name="Picture 12" descr="华中科技大学主站"/>
          <p:cNvPicPr>
            <a:picLocks noChangeAspect="1" noChangeArrowheads="1"/>
          </p:cNvPicPr>
          <p:nvPr/>
        </p:nvPicPr>
        <p:blipFill>
          <a:blip r:embed="rId4"/>
          <a:srcRect/>
          <a:stretch>
            <a:fillRect/>
          </a:stretch>
        </p:blipFill>
        <p:spPr bwMode="auto">
          <a:xfrm>
            <a:off x="4376736" y="2151713"/>
            <a:ext cx="3438525" cy="695325"/>
          </a:xfrm>
          <a:prstGeom prst="rect">
            <a:avLst/>
          </a:prstGeom>
          <a:noFill/>
        </p:spPr>
      </p:pic>
      <p:graphicFrame>
        <p:nvGraphicFramePr>
          <p:cNvPr id="2" name="表格 1"/>
          <p:cNvGraphicFramePr>
            <a:graphicFrameLocks noGrp="1"/>
          </p:cNvGraphicFramePr>
          <p:nvPr>
            <p:custDataLst>
              <p:tags r:id="rId5"/>
            </p:custDataLst>
          </p:nvPr>
        </p:nvGraphicFramePr>
        <p:xfrm>
          <a:off x="3645853" y="4785995"/>
          <a:ext cx="4900295" cy="1981200"/>
        </p:xfrm>
        <a:graphic>
          <a:graphicData uri="http://schemas.openxmlformats.org/drawingml/2006/table">
            <a:tbl>
              <a:tblPr bandRow="1">
                <a:tableStyleId>{5C22544A-7EE6-4342-B048-85BDC9FD1C3A}</a:tableStyleId>
              </a:tblPr>
              <a:tblGrid>
                <a:gridCol w="1212850"/>
                <a:gridCol w="3687445"/>
              </a:tblGrid>
              <a:tr h="370840">
                <a:tc rowSpan="4">
                  <a:txBody>
                    <a:bodyPr/>
                    <a:p>
                      <a:pPr algn="ctr">
                        <a:lnSpc>
                          <a:spcPct val="100000"/>
                        </a:lnSpc>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小组成员</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a:noFill/>
                    </a:lnL>
                    <a:lnR w="12700">
                      <a:solidFill>
                        <a:schemeClr val="tx1"/>
                      </a:solidFill>
                      <a:prstDash val="solid"/>
                    </a:lnR>
                    <a:lnT>
                      <a:noFill/>
                    </a:lnT>
                    <a:lnB w="12700">
                      <a:solidFill>
                        <a:schemeClr val="tx1"/>
                      </a:solidFill>
                      <a:prstDash val="solid"/>
                    </a:lnB>
                    <a:lnTlToBr w="12700" cmpd="sng">
                      <a:noFill/>
                      <a:prstDash val="solid"/>
                    </a:lnTlToBr>
                    <a:lnBlToTr w="12700" cmpd="sng">
                      <a:noFill/>
                      <a:prstDash val="solid"/>
                    </a:lnBlToTr>
                    <a:noFill/>
                  </a:tcPr>
                </a:tc>
                <a:tc>
                  <a:txBody>
                    <a:bodyPr/>
                    <a:lstStyle/>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汤雅琴</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M202573115</a:t>
                      </a:r>
                      <a:endPar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a:noFill/>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cmpd="sng">
                      <a:noFill/>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赵甫霖</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M202573190</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cmpd="sng">
                      <a:noFill/>
                    </a:lnB>
                    <a:lnTlToBr w="12700" cmpd="sng">
                      <a:noFill/>
                      <a:prstDash val="solid"/>
                    </a:lnTlToBr>
                    <a:lnBlToTr w="12700" cmpd="sng">
                      <a:noFill/>
                      <a:prstDash val="solid"/>
                    </a:lnBlToTr>
                    <a:noFill/>
                  </a:tcPr>
                </a:tc>
                <a:tc>
                  <a:txBody>
                    <a:bodyPr/>
                    <a:p>
                      <a:pPr algn="ctr">
                        <a:buNone/>
                      </a:pPr>
                      <a:r>
                        <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罗</a:t>
                      </a:r>
                      <a:r>
                        <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畅</a:t>
                      </a:r>
                      <a:r>
                        <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 </a:t>
                      </a:r>
                      <a:r>
                        <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M202573189</a:t>
                      </a:r>
                      <a:endPar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a:solidFill>
                        <a:schemeClr val="tx1"/>
                      </a:solidFill>
                      <a:prstDash val="solid"/>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严子涵</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D202581370</a:t>
                      </a:r>
                      <a:endPar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sym typeface="+mn-ea"/>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完成日期</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a:noFill/>
                    </a:lnL>
                    <a:lnR w="12700">
                      <a:solidFill>
                        <a:schemeClr val="tx1"/>
                      </a:solidFill>
                      <a:prstDash val="solid"/>
                    </a:lnR>
                    <a:lnT w="12700">
                      <a:solidFill>
                        <a:schemeClr val="tx1"/>
                      </a:solidFill>
                      <a:prstDash val="solid"/>
                    </a:lnT>
                    <a:lnB>
                      <a:noFill/>
                    </a:lnB>
                    <a:lnTlToBr w="12700" cmpd="sng">
                      <a:noFill/>
                      <a:prstDash val="solid"/>
                    </a:lnTlToBr>
                    <a:lnBlToTr w="12700" cmpd="sng">
                      <a:noFill/>
                      <a:prstDash val="solid"/>
                    </a:lnBlToTr>
                    <a:no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2026</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年</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04</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月</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25</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日</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a:noFill/>
                    </a:lnB>
                    <a:lnTlToBr w="12700" cmpd="sng">
                      <a:noFill/>
                      <a:prstDash val="solid"/>
                    </a:lnTlToBr>
                    <a:lnBlToTr w="12700" cmpd="sng">
                      <a:noFill/>
                      <a:prstDash val="solid"/>
                    </a:lnBlToTr>
                    <a:noFill/>
                  </a:tcPr>
                </a:tc>
              </a:tr>
            </a:tbl>
          </a:graphicData>
        </a:graphic>
      </p:graphicFrame>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矩形 36"/>
          <p:cNvSpPr/>
          <p:nvPr/>
        </p:nvSpPr>
        <p:spPr>
          <a:xfrm>
            <a:off x="5714365" y="1655445"/>
            <a:ext cx="6407785" cy="52324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实验</a:t>
            </a:r>
            <a:r>
              <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内容、环境与分工</a:t>
            </a:r>
            <a:endPar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sp>
        <p:nvSpPr>
          <p:cNvPr id="1048601" name="矩形 37"/>
          <p:cNvSpPr/>
          <p:nvPr/>
        </p:nvSpPr>
        <p:spPr>
          <a:xfrm>
            <a:off x="5727065" y="2712085"/>
            <a:ext cx="5664835" cy="523240"/>
          </a:xfrm>
          <a:prstGeom prst="rect">
            <a:avLst/>
          </a:prstGeom>
        </p:spPr>
        <p:txBody>
          <a:bodyPr wrap="none">
            <a:noAutofit/>
          </a:bodyPr>
          <a:lstStyle/>
          <a:p>
            <a:pPr lvl="0" algn="l">
              <a:defRPr/>
            </a:pPr>
            <a:r>
              <a:rPr kumimoji="0" lang="zh-CN"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mn-ea"/>
              </a:rPr>
              <a:t>实验</a:t>
            </a:r>
            <a:r>
              <a:rPr kumimoji="0" lang="zh-CN"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mn-ea"/>
              </a:rPr>
              <a:t>过程</a:t>
            </a:r>
            <a:endParaRPr kumimoji="0" lang="zh-CN"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48602" name="矩形 38"/>
          <p:cNvSpPr/>
          <p:nvPr/>
        </p:nvSpPr>
        <p:spPr>
          <a:xfrm>
            <a:off x="5745819" y="3793691"/>
            <a:ext cx="3379245" cy="523220"/>
          </a:xfrm>
          <a:prstGeom prst="rect">
            <a:avLst/>
          </a:prstGeom>
        </p:spPr>
        <p:txBody>
          <a:bodyPr wrap="none">
            <a:noAutofit/>
          </a:bodyPr>
          <a:lstStyle/>
          <a:p>
            <a:pPr lvl="0">
              <a:defRPr/>
            </a:pPr>
            <a:r>
              <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实验结果</a:t>
            </a:r>
            <a:endPar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sp>
        <p:nvSpPr>
          <p:cNvPr id="1048603" name="矩形 39"/>
          <p:cNvSpPr/>
          <p:nvPr/>
        </p:nvSpPr>
        <p:spPr>
          <a:xfrm>
            <a:off x="5745820" y="4811712"/>
            <a:ext cx="2890873" cy="52322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实验总结</a:t>
            </a:r>
            <a:endParaRPr kumimoji="0" lang="zh-CN" altLang="en-US"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sp>
        <p:nvSpPr>
          <p:cNvPr id="1048604" name="矩形 33"/>
          <p:cNvSpPr/>
          <p:nvPr/>
        </p:nvSpPr>
        <p:spPr>
          <a:xfrm>
            <a:off x="4655375" y="1797929"/>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48605" name="文本框 17"/>
          <p:cNvSpPr txBox="1"/>
          <p:nvPr/>
        </p:nvSpPr>
        <p:spPr>
          <a:xfrm>
            <a:off x="4657567" y="1377928"/>
            <a:ext cx="813043" cy="769441"/>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01</a:t>
            </a:r>
            <a:endParaRPr kumimoji="0" lang="zh-CN" altLang="en-US"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048606" name="矩形 56"/>
          <p:cNvSpPr/>
          <p:nvPr/>
        </p:nvSpPr>
        <p:spPr>
          <a:xfrm>
            <a:off x="4655375" y="2883916"/>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48607" name="文本框 57"/>
          <p:cNvSpPr txBox="1"/>
          <p:nvPr/>
        </p:nvSpPr>
        <p:spPr>
          <a:xfrm>
            <a:off x="4657567" y="2463915"/>
            <a:ext cx="813043" cy="769441"/>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02</a:t>
            </a:r>
            <a:endParaRPr kumimoji="0" lang="zh-CN" altLang="en-US"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048608" name="矩形 58"/>
          <p:cNvSpPr/>
          <p:nvPr/>
        </p:nvSpPr>
        <p:spPr>
          <a:xfrm>
            <a:off x="4655375" y="3969903"/>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48609" name="文本框 59"/>
          <p:cNvSpPr txBox="1"/>
          <p:nvPr/>
        </p:nvSpPr>
        <p:spPr>
          <a:xfrm>
            <a:off x="4657567" y="3549902"/>
            <a:ext cx="813043" cy="769441"/>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03</a:t>
            </a:r>
            <a:endParaRPr kumimoji="0" lang="zh-CN" altLang="en-US"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048610" name="矩形 60"/>
          <p:cNvSpPr/>
          <p:nvPr/>
        </p:nvSpPr>
        <p:spPr>
          <a:xfrm>
            <a:off x="4655375" y="5055890"/>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48611" name="文本框 61"/>
          <p:cNvSpPr txBox="1"/>
          <p:nvPr/>
        </p:nvSpPr>
        <p:spPr>
          <a:xfrm>
            <a:off x="4643120" y="4623739"/>
            <a:ext cx="813043" cy="769441"/>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04</a:t>
            </a:r>
            <a:endParaRPr kumimoji="0" lang="zh-CN" altLang="en-US"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350" y="877414"/>
            <a:ext cx="3774210" cy="46166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实验</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内容</a:t>
            </a:r>
            <a:endParaRPr lang="zh-CN" altLang="en-US"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197142" y="1285008"/>
            <a:ext cx="10071146" cy="1476375"/>
          </a:xfrm>
          <a:prstGeom prst="rect">
            <a:avLst/>
          </a:prstGeom>
          <a:noFill/>
        </p:spPr>
        <p:txBody>
          <a:bodyPr wrap="square">
            <a:spAutoFit/>
          </a:bodyPr>
          <a:lstStyle/>
          <a:p>
            <a:pPr marL="285750" indent="-285750">
              <a:buFont typeface="Arial" panose="020B0604020202090204" pitchFamily="34" charset="0"/>
              <a:buChar char="•"/>
            </a:pPr>
            <a:r>
              <a:rPr lang="zh-CN" altLang="en-US" dirty="0">
                <a:ea typeface="+mn-lt"/>
                <a:cs typeface="+mn-lt"/>
              </a:rPr>
              <a:t>复现开源项目</a:t>
            </a:r>
            <a:r>
              <a:rPr lang="en-US" altLang="zh-CN" dirty="0">
                <a:ea typeface="+mn-lt"/>
                <a:cs typeface="+mn-lt"/>
              </a:rPr>
              <a:t>MiniMind</a:t>
            </a:r>
            <a:r>
              <a:rPr lang="zh-CN" altLang="en-US" dirty="0">
                <a:ea typeface="+mn-lt"/>
                <a:cs typeface="+mn-lt"/>
              </a:rPr>
              <a:t>（</a:t>
            </a:r>
            <a:r>
              <a:rPr lang="en-US" altLang="zh-CN" dirty="0">
                <a:ea typeface="+mn-lt"/>
                <a:cs typeface="+mn-lt"/>
              </a:rPr>
              <a:t>https://github.com/jingyaogong/minimind</a:t>
            </a:r>
            <a:r>
              <a:rPr lang="zh-CN" altLang="en-US" dirty="0">
                <a:ea typeface="+mn-lt"/>
                <a:cs typeface="+mn-lt"/>
              </a:rPr>
              <a:t>）的训练过程，给出训练过程的损失函数下降曲线</a:t>
            </a:r>
            <a:endParaRPr lang="zh-CN" altLang="en-US" dirty="0">
              <a:ea typeface="+mn-lt"/>
              <a:cs typeface="+mn-lt"/>
            </a:endParaRPr>
          </a:p>
          <a:p>
            <a:pPr marL="285750" indent="-285750">
              <a:buFont typeface="Arial" panose="020B0604020202090204" pitchFamily="34" charset="0"/>
              <a:buChar char="•"/>
            </a:pPr>
            <a:r>
              <a:rPr lang="zh-CN" altLang="en-US" dirty="0">
                <a:ea typeface="+mn-lt"/>
                <a:cs typeface="+mn-lt"/>
              </a:rPr>
              <a:t>模型训练完成之后，对比自己训练的模型和官方提供模型之间的测试效果</a:t>
            </a:r>
            <a:endParaRPr lang="zh-CN" altLang="en-US" dirty="0">
              <a:ea typeface="+mn-lt"/>
              <a:cs typeface="+mn-lt"/>
            </a:endParaRPr>
          </a:p>
          <a:p>
            <a:pPr marL="285750" indent="-285750">
              <a:buFont typeface="Arial" panose="020B0604020202090204" pitchFamily="34" charset="0"/>
              <a:buChar char="•"/>
            </a:pPr>
            <a:r>
              <a:rPr lang="zh-CN" altLang="en-US" dirty="0">
                <a:ea typeface="+mn-lt"/>
                <a:cs typeface="+mn-lt"/>
              </a:rPr>
              <a:t>选做：利用《华中科技大学研究生手册》对完成的</a:t>
            </a:r>
            <a:r>
              <a:rPr lang="en-US" altLang="zh-CN" dirty="0">
                <a:ea typeface="+mn-lt"/>
                <a:cs typeface="+mn-lt"/>
              </a:rPr>
              <a:t>MiniMind</a:t>
            </a:r>
            <a:r>
              <a:rPr lang="zh-CN" altLang="en-US" dirty="0">
                <a:ea typeface="+mn-lt"/>
                <a:cs typeface="+mn-lt"/>
              </a:rPr>
              <a:t>模型进行微调，测试微调之后的模型生成效果。</a:t>
            </a:r>
            <a:endParaRPr lang="zh-CN" altLang="en-US" dirty="0">
              <a:ea typeface="+mn-lt"/>
              <a:cs typeface="+mn-lt"/>
            </a:endParaRPr>
          </a:p>
        </p:txBody>
      </p:sp>
      <p:sp>
        <p:nvSpPr>
          <p:cNvPr id="2" name="矩形 3"/>
          <p:cNvSpPr/>
          <p:nvPr/>
        </p:nvSpPr>
        <p:spPr>
          <a:xfrm>
            <a:off x="1196975" y="190500"/>
            <a:ext cx="3859530" cy="40005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01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内容、环境与分工</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4" name="矩形 26"/>
          <p:cNvSpPr/>
          <p:nvPr/>
        </p:nvSpPr>
        <p:spPr>
          <a:xfrm>
            <a:off x="695325" y="2906192"/>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矩形 27"/>
          <p:cNvSpPr/>
          <p:nvPr/>
        </p:nvSpPr>
        <p:spPr>
          <a:xfrm>
            <a:off x="876958" y="2993024"/>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文本框 13"/>
          <p:cNvSpPr txBox="1"/>
          <p:nvPr/>
        </p:nvSpPr>
        <p:spPr>
          <a:xfrm>
            <a:off x="1214120" y="2906395"/>
            <a:ext cx="633539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实验</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环境</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pic>
        <p:nvPicPr>
          <p:cNvPr id="100" name="图片 99"/>
          <p:cNvPicPr/>
          <p:nvPr/>
        </p:nvPicPr>
        <p:blipFill>
          <a:blip r:embed="rId1" r:link="rId2"/>
          <a:stretch>
            <a:fillRect/>
          </a:stretch>
        </p:blipFill>
        <p:spPr>
          <a:xfrm>
            <a:off x="6096000" y="3618865"/>
            <a:ext cx="0" cy="0"/>
          </a:xfrm>
          <a:prstGeom prst="rect">
            <a:avLst/>
          </a:prstGeom>
          <a:noFill/>
          <a:ln w="9525">
            <a:noFill/>
          </a:ln>
        </p:spPr>
      </p:pic>
      <p:pic>
        <p:nvPicPr>
          <p:cNvPr id="102" name="图片 101"/>
          <p:cNvPicPr/>
          <p:nvPr/>
        </p:nvPicPr>
        <p:blipFill>
          <a:blip r:embed="rId1" r:link="rId2"/>
          <a:stretch>
            <a:fillRect/>
          </a:stretch>
        </p:blipFill>
        <p:spPr>
          <a:xfrm>
            <a:off x="6096000" y="3618865"/>
            <a:ext cx="0" cy="0"/>
          </a:xfrm>
          <a:prstGeom prst="rect">
            <a:avLst/>
          </a:prstGeom>
          <a:noFill/>
          <a:ln w="9525">
            <a:noFill/>
          </a:ln>
        </p:spPr>
      </p:pic>
      <p:pic>
        <p:nvPicPr>
          <p:cNvPr id="103" name="图片 102"/>
          <p:cNvPicPr/>
          <p:nvPr/>
        </p:nvPicPr>
        <p:blipFill>
          <a:blip r:embed="rId1" r:link="rId2"/>
          <a:stretch>
            <a:fillRect/>
          </a:stretch>
        </p:blipFill>
        <p:spPr>
          <a:xfrm>
            <a:off x="6096000" y="3618865"/>
            <a:ext cx="0" cy="0"/>
          </a:xfrm>
          <a:prstGeom prst="rect">
            <a:avLst/>
          </a:prstGeom>
          <a:noFill/>
          <a:ln w="9525">
            <a:noFill/>
          </a:ln>
        </p:spPr>
      </p:pic>
      <p:pic>
        <p:nvPicPr>
          <p:cNvPr id="104" name="图片 103"/>
          <p:cNvPicPr/>
          <p:nvPr/>
        </p:nvPicPr>
        <p:blipFill>
          <a:blip r:embed="rId1" r:link="rId2"/>
          <a:stretch>
            <a:fillRect/>
          </a:stretch>
        </p:blipFill>
        <p:spPr>
          <a:xfrm>
            <a:off x="6096000" y="3618865"/>
            <a:ext cx="0" cy="0"/>
          </a:xfrm>
          <a:prstGeom prst="rect">
            <a:avLst/>
          </a:prstGeom>
          <a:noFill/>
          <a:ln w="9525">
            <a:noFill/>
          </a:ln>
        </p:spPr>
      </p:pic>
      <p:graphicFrame>
        <p:nvGraphicFramePr>
          <p:cNvPr id="7" name="表格 6"/>
          <p:cNvGraphicFramePr/>
          <p:nvPr/>
        </p:nvGraphicFramePr>
        <p:xfrm>
          <a:off x="1328420" y="3357880"/>
          <a:ext cx="9232900" cy="2400300"/>
        </p:xfrm>
        <a:graphic>
          <a:graphicData uri="http://schemas.openxmlformats.org/drawingml/2006/table">
            <a:tbl>
              <a:tblPr firstRow="1">
                <a:tableStyleId>{5C22544A-7EE6-4342-B048-85BDC9FD1C3A}</a:tableStyleId>
              </a:tblPr>
              <a:tblGrid>
                <a:gridCol w="1587500"/>
                <a:gridCol w="3987800"/>
                <a:gridCol w="1854200"/>
                <a:gridCol w="1803400"/>
              </a:tblGrid>
              <a:tr h="342900">
                <a:tc>
                  <a:txBody>
                    <a:bodyPr/>
                    <a:p>
                      <a:pPr algn="ctr" fontAlgn="ctr" latinLnBrk="0"/>
                      <a:r>
                        <a:rPr lang="zh-CN" altLang="en-US" sz="1600"/>
                        <a:t>软件</a:t>
                      </a:r>
                      <a:r>
                        <a:rPr lang="en-US" altLang="zh-CN" sz="1600"/>
                        <a:t>/</a:t>
                      </a:r>
                      <a:r>
                        <a:rPr lang="zh-CN" altLang="en-US" sz="1600"/>
                        <a:t>硬件</a:t>
                      </a:r>
                      <a:endParaRPr lang="zh-CN" altLang="en-US" sz="1600"/>
                    </a:p>
                  </a:txBody>
                  <a:tcPr marL="0" marR="0" marT="0" marB="0" anchor="ctr" anchorCtr="0"/>
                </a:tc>
                <a:tc>
                  <a:txBody>
                    <a:bodyPr/>
                    <a:p>
                      <a:pPr algn="ctr" fontAlgn="ctr" latinLnBrk="0"/>
                      <a:r>
                        <a:rPr lang="zh-CN" altLang="en-US" sz="1600"/>
                        <a:t>参数</a:t>
                      </a:r>
                      <a:r>
                        <a:rPr lang="en-US" altLang="zh-CN" sz="1600"/>
                        <a:t>/</a:t>
                      </a:r>
                      <a:r>
                        <a:rPr lang="zh-CN" altLang="en-US" sz="1600"/>
                        <a:t>型号</a:t>
                      </a:r>
                      <a:endParaRPr lang="zh-CN" altLang="en-US" sz="1600"/>
                    </a:p>
                  </a:txBody>
                  <a:tcPr marL="0" marR="0" marT="0" marB="0" anchor="ctr" anchorCtr="0"/>
                </a:tc>
                <a:tc>
                  <a:txBody>
                    <a:bodyPr/>
                    <a:p>
                      <a:pPr algn="ctr" fontAlgn="ctr" latinLnBrk="0"/>
                      <a:r>
                        <a:rPr lang="zh-CN" altLang="en-US" sz="1600"/>
                        <a:t>软件</a:t>
                      </a:r>
                      <a:r>
                        <a:rPr lang="en-US" altLang="zh-CN" sz="1600"/>
                        <a:t>/</a:t>
                      </a:r>
                      <a:r>
                        <a:rPr lang="zh-CN" altLang="en-US" sz="1600"/>
                        <a:t>硬件</a:t>
                      </a:r>
                      <a:endParaRPr lang="zh-CN" altLang="en-US" sz="1600"/>
                    </a:p>
                  </a:txBody>
                  <a:tcPr marL="0" marR="0" marT="0" marB="0" anchor="ctr" anchorCtr="0"/>
                </a:tc>
                <a:tc>
                  <a:txBody>
                    <a:bodyPr/>
                    <a:p>
                      <a:pPr algn="ctr" fontAlgn="ctr" latinLnBrk="0"/>
                      <a:r>
                        <a:rPr lang="zh-CN" altLang="en-US" sz="1600"/>
                        <a:t>参数</a:t>
                      </a:r>
                      <a:r>
                        <a:rPr lang="en-US" altLang="zh-CN" sz="1600"/>
                        <a:t>/</a:t>
                      </a:r>
                      <a:r>
                        <a:rPr lang="zh-CN" altLang="en-US" sz="1600"/>
                        <a:t>型号</a:t>
                      </a:r>
                      <a:endParaRPr lang="zh-CN" altLang="en-US" sz="1600"/>
                    </a:p>
                  </a:txBody>
                  <a:tcPr marL="0" marR="0" marT="0" marB="0" anchor="ctr" anchorCtr="0"/>
                </a:tc>
              </a:tr>
              <a:tr h="342900">
                <a:tc>
                  <a:txBody>
                    <a:bodyPr/>
                    <a:p>
                      <a:pPr algn="ctr" fontAlgn="ctr" latinLnBrk="0"/>
                      <a:r>
                        <a:rPr lang="zh-CN" altLang="en-US" sz="1800" b="0" i="0">
                          <a:solidFill>
                            <a:srgbClr val="1F1F1F"/>
                          </a:solidFill>
                        </a:rPr>
                        <a:t>操作系统环境</a:t>
                      </a:r>
                      <a:endParaRPr lang="zh-CN" altLang="en-US"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Ubuntu 22.04.4 LTS (Linux)</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CUDA Version</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12.4</a:t>
                      </a:r>
                      <a:endParaRPr lang="en-US" altLang="zh-CN" sz="1800" b="0" i="0">
                        <a:solidFill>
                          <a:srgbClr val="1F1F1F"/>
                        </a:solidFill>
                      </a:endParaRPr>
                    </a:p>
                  </a:txBody>
                  <a:tcPr marL="0" marR="0" marT="0" marB="0" anchor="ctr" anchorCtr="0"/>
                </a:tc>
              </a:tr>
              <a:tr h="342900">
                <a:tc>
                  <a:txBody>
                    <a:bodyPr/>
                    <a:p>
                      <a:pPr algn="ctr" fontAlgn="ctr" latinLnBrk="0"/>
                      <a:r>
                        <a:rPr lang="en-US" altLang="zh-CN" sz="1800" b="0" i="0">
                          <a:solidFill>
                            <a:srgbClr val="1F1F1F"/>
                          </a:solidFill>
                        </a:rPr>
                        <a:t>CPU</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 AMD EPYC 7B12 64-Core Processor 8 </a:t>
                      </a:r>
                      <a:r>
                        <a:rPr lang="zh-CN" altLang="en-US" sz="1800" b="0" i="0">
                          <a:solidFill>
                            <a:srgbClr val="1F1F1F"/>
                          </a:solidFill>
                        </a:rPr>
                        <a:t>核</a:t>
                      </a:r>
                      <a:endParaRPr lang="zh-CN" altLang="en-US"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Python Version</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3.11.11</a:t>
                      </a:r>
                      <a:endParaRPr lang="en-US" altLang="zh-CN" sz="1800" b="0" i="0">
                        <a:solidFill>
                          <a:srgbClr val="1F1F1F"/>
                        </a:solidFill>
                      </a:endParaRPr>
                    </a:p>
                  </a:txBody>
                  <a:tcPr marL="0" marR="0" marT="0" marB="0" anchor="ctr" anchorCtr="0"/>
                </a:tc>
              </a:tr>
              <a:tr h="342900">
                <a:tc>
                  <a:txBody>
                    <a:bodyPr/>
                    <a:p>
                      <a:pPr algn="ctr" fontAlgn="ctr" latinLnBrk="0"/>
                      <a:r>
                        <a:rPr lang="en-US" altLang="zh-CN" sz="1800" b="0" i="0">
                          <a:solidFill>
                            <a:srgbClr val="1F1F1F"/>
                          </a:solidFill>
                        </a:rPr>
                        <a:t>RAM</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63GB</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PyTorch Version</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2.6.0+cu124</a:t>
                      </a:r>
                      <a:endParaRPr lang="en-US" altLang="zh-CN" sz="1800" b="0" i="0">
                        <a:solidFill>
                          <a:srgbClr val="1F1F1F"/>
                        </a:solidFill>
                      </a:endParaRPr>
                    </a:p>
                  </a:txBody>
                  <a:tcPr marL="0" marR="0" marT="0" marB="0" anchor="ctr" anchorCtr="0"/>
                </a:tc>
              </a:tr>
              <a:tr h="342900">
                <a:tc>
                  <a:txBody>
                    <a:bodyPr/>
                    <a:p>
                      <a:pPr algn="ctr" fontAlgn="ctr" latinLnBrk="0"/>
                      <a:r>
                        <a:rPr lang="zh-CN" altLang="en-US" sz="1800" b="0" i="0">
                          <a:solidFill>
                            <a:srgbClr val="1F1F1F"/>
                          </a:solidFill>
                        </a:rPr>
                        <a:t>显卡</a:t>
                      </a:r>
                      <a:r>
                        <a:rPr lang="en-US" altLang="zh-CN" sz="1800" b="0" i="0">
                          <a:solidFill>
                            <a:srgbClr val="1F1F1F"/>
                          </a:solidFill>
                        </a:rPr>
                        <a:t>/</a:t>
                      </a:r>
                      <a:r>
                        <a:rPr lang="zh-CN" altLang="en-US" sz="1800" b="0" i="0">
                          <a:solidFill>
                            <a:srgbClr val="1F1F1F"/>
                          </a:solidFill>
                        </a:rPr>
                        <a:t>显存</a:t>
                      </a:r>
                      <a:endParaRPr lang="zh-CN" altLang="en-US"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NVIDIA GeForce RTX 3090 24GB</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Minimind</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2026-04-01 Update</a:t>
                      </a:r>
                      <a:endParaRPr lang="en-US" altLang="zh-CN" sz="1800" b="0" i="0">
                        <a:solidFill>
                          <a:srgbClr val="1F1F1F"/>
                        </a:solidFill>
                      </a:endParaRPr>
                    </a:p>
                  </a:txBody>
                  <a:tcPr marL="0" marR="0" marT="0" marB="0" anchor="ctr" anchorCtr="0"/>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350" y="877414"/>
            <a:ext cx="3774210" cy="46166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环境准备与数据集</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构建</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a:p>
            <a:pPr marR="0" indent="0" defTabSz="914400" fontAlgn="auto">
              <a:lnSpc>
                <a:spcPct val="100000"/>
              </a:lnSpc>
              <a:spcBef>
                <a:spcPts val="0"/>
              </a:spcBef>
              <a:spcAft>
                <a:spcPts val="0"/>
              </a:spcAft>
              <a:buClrTx/>
              <a:buSzTx/>
              <a:buFontTx/>
              <a:buNone/>
              <a:defRPr/>
            </a:pP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2" name="矩形 3"/>
          <p:cNvSpPr/>
          <p:nvPr/>
        </p:nvSpPr>
        <p:spPr>
          <a:xfrm>
            <a:off x="1196975" y="190500"/>
            <a:ext cx="3792220" cy="400050"/>
          </a:xfrm>
          <a:prstGeom prst="rect">
            <a:avLst/>
          </a:prstGeom>
        </p:spPr>
        <p:txBody>
          <a:bodyPr wrap="none">
            <a:noAutofit/>
          </a:bodyPr>
          <a:lstStyle/>
          <a:p>
            <a:pPr algn="l">
              <a:defRPr/>
            </a:pPr>
            <a:r>
              <a:rPr lang="en-US" altLang="zh-CN" sz="20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01 </a:t>
            </a:r>
            <a:r>
              <a:rPr lang="zh-CN" sz="20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实验</a:t>
            </a:r>
            <a:r>
              <a:rPr lang="zh-CN" sz="20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内容、环境与分工</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4" name="矩形 26"/>
          <p:cNvSpPr/>
          <p:nvPr/>
        </p:nvSpPr>
        <p:spPr>
          <a:xfrm>
            <a:off x="695325" y="3510712"/>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矩形 27"/>
          <p:cNvSpPr/>
          <p:nvPr/>
        </p:nvSpPr>
        <p:spPr>
          <a:xfrm>
            <a:off x="876958" y="3597544"/>
            <a:ext cx="136071" cy="288000"/>
          </a:xfrm>
          <a:prstGeom prst="rect">
            <a:avLst/>
          </a:prstGeom>
          <a:solidFill>
            <a:srgbClr val="65E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文本框 13"/>
          <p:cNvSpPr txBox="1"/>
          <p:nvPr/>
        </p:nvSpPr>
        <p:spPr>
          <a:xfrm>
            <a:off x="1214120" y="3510915"/>
            <a:ext cx="633539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实验分工</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pic>
        <p:nvPicPr>
          <p:cNvPr id="100" name="图片 99"/>
          <p:cNvPicPr/>
          <p:nvPr/>
        </p:nvPicPr>
        <p:blipFill>
          <a:blip r:embed="rId1" r:link="rId2"/>
          <a:stretch>
            <a:fillRect/>
          </a:stretch>
        </p:blipFill>
        <p:spPr>
          <a:xfrm>
            <a:off x="6096000" y="4313555"/>
            <a:ext cx="0" cy="0"/>
          </a:xfrm>
          <a:prstGeom prst="rect">
            <a:avLst/>
          </a:prstGeom>
          <a:noFill/>
          <a:ln w="9525">
            <a:noFill/>
          </a:ln>
        </p:spPr>
      </p:pic>
      <p:pic>
        <p:nvPicPr>
          <p:cNvPr id="102" name="图片 101"/>
          <p:cNvPicPr/>
          <p:nvPr/>
        </p:nvPicPr>
        <p:blipFill>
          <a:blip r:embed="rId1" r:link="rId2"/>
          <a:stretch>
            <a:fillRect/>
          </a:stretch>
        </p:blipFill>
        <p:spPr>
          <a:xfrm>
            <a:off x="6096000" y="4313555"/>
            <a:ext cx="0" cy="0"/>
          </a:xfrm>
          <a:prstGeom prst="rect">
            <a:avLst/>
          </a:prstGeom>
          <a:noFill/>
          <a:ln w="9525">
            <a:noFill/>
          </a:ln>
        </p:spPr>
      </p:pic>
      <p:pic>
        <p:nvPicPr>
          <p:cNvPr id="103" name="图片 102"/>
          <p:cNvPicPr/>
          <p:nvPr/>
        </p:nvPicPr>
        <p:blipFill>
          <a:blip r:embed="rId1" r:link="rId2"/>
          <a:stretch>
            <a:fillRect/>
          </a:stretch>
        </p:blipFill>
        <p:spPr>
          <a:xfrm>
            <a:off x="6096000" y="4313555"/>
            <a:ext cx="0" cy="0"/>
          </a:xfrm>
          <a:prstGeom prst="rect">
            <a:avLst/>
          </a:prstGeom>
          <a:noFill/>
          <a:ln w="9525">
            <a:noFill/>
          </a:ln>
        </p:spPr>
      </p:pic>
      <p:pic>
        <p:nvPicPr>
          <p:cNvPr id="104" name="图片 103"/>
          <p:cNvPicPr/>
          <p:nvPr/>
        </p:nvPicPr>
        <p:blipFill>
          <a:blip r:embed="rId1" r:link="rId2"/>
          <a:stretch>
            <a:fillRect/>
          </a:stretch>
        </p:blipFill>
        <p:spPr>
          <a:xfrm>
            <a:off x="6096000" y="4313555"/>
            <a:ext cx="0" cy="0"/>
          </a:xfrm>
          <a:prstGeom prst="rect">
            <a:avLst/>
          </a:prstGeom>
          <a:noFill/>
          <a:ln w="9525">
            <a:noFill/>
          </a:ln>
        </p:spPr>
      </p:pic>
      <p:graphicFrame>
        <p:nvGraphicFramePr>
          <p:cNvPr id="9" name="表格 8"/>
          <p:cNvGraphicFramePr/>
          <p:nvPr>
            <p:custDataLst>
              <p:tags r:id="rId3"/>
            </p:custDataLst>
          </p:nvPr>
        </p:nvGraphicFramePr>
        <p:xfrm>
          <a:off x="1214120" y="4011295"/>
          <a:ext cx="9903525" cy="1676400"/>
        </p:xfrm>
        <a:graphic>
          <a:graphicData uri="http://schemas.openxmlformats.org/drawingml/2006/table">
            <a:tbl>
              <a:tblPr firstRow="1" bandRow="1">
                <a:tableStyleId>{5C22544A-7EE6-4342-B048-85BDC9FD1C3A}</a:tableStyleId>
              </a:tblPr>
              <a:tblGrid>
                <a:gridCol w="1512000"/>
                <a:gridCol w="8391525"/>
              </a:tblGrid>
              <a:tr h="335280">
                <a:tc>
                  <a:txBody>
                    <a:bodyPr/>
                    <a:p>
                      <a:pPr algn="ctr">
                        <a:buNone/>
                      </a:pPr>
                      <a:r>
                        <a:rPr lang="zh-CN" altLang="en-US" sz="1600"/>
                        <a:t>成员</a:t>
                      </a:r>
                      <a:endParaRPr lang="zh-CN" altLang="en-US" sz="1600"/>
                    </a:p>
                  </a:txBody>
                  <a:tcPr/>
                </a:tc>
                <a:tc>
                  <a:txBody>
                    <a:bodyPr/>
                    <a:p>
                      <a:pPr algn="ctr">
                        <a:buNone/>
                      </a:pPr>
                      <a:r>
                        <a:rPr lang="zh-CN" altLang="en-US" sz="1600"/>
                        <a:t>分工</a:t>
                      </a:r>
                      <a:endParaRPr lang="zh-CN" altLang="en-US" sz="1600"/>
                    </a:p>
                  </a:txBody>
                  <a:tcPr/>
                </a:tc>
              </a:tr>
              <a:tr h="335280">
                <a:tc>
                  <a:txBody>
                    <a:bodyPr/>
                    <a:p>
                      <a:pPr algn="ctr">
                        <a:buNone/>
                      </a:pPr>
                      <a:r>
                        <a:rPr lang="zh-CN" altLang="en-US" sz="1600">
                          <a:sym typeface="+mn-ea"/>
                        </a:rPr>
                        <a:t>严子涵</a:t>
                      </a:r>
                      <a:endParaRPr lang="zh-CN" altLang="en-US" sz="1600" dirty="0">
                        <a:latin typeface="Cambria Math" panose="02040503050406030204" pitchFamily="18" charset="0"/>
                        <a:cs typeface="Cambria Math" panose="02040503050406030204" pitchFamily="18" charset="0"/>
                      </a:endParaRPr>
                    </a:p>
                  </a:txBody>
                  <a:tcPr/>
                </a:tc>
                <a:tc>
                  <a:txBody>
                    <a:bodyPr/>
                    <a:p>
                      <a:pPr algn="ctr" fontAlgn="ctr" latinLnBrk="0"/>
                      <a:r>
                        <a:rPr lang="zh-CN" altLang="en-US" sz="1800" b="0" i="0">
                          <a:solidFill>
                            <a:srgbClr val="1F1F1F"/>
                          </a:solidFill>
                        </a:rPr>
                        <a:t>项目统筹、预训练、</a:t>
                      </a:r>
                      <a:r>
                        <a:rPr lang="en-US" altLang="zh-CN" sz="1800" b="0" i="0">
                          <a:solidFill>
                            <a:srgbClr val="1F1F1F"/>
                          </a:solidFill>
                        </a:rPr>
                        <a:t>SFT</a:t>
                      </a:r>
                      <a:r>
                        <a:rPr lang="zh-CN" altLang="en-US" sz="1800" b="0" i="0">
                          <a:solidFill>
                            <a:srgbClr val="1F1F1F"/>
                          </a:solidFill>
                        </a:rPr>
                        <a:t>训练</a:t>
                      </a:r>
                      <a:endParaRPr lang="zh-CN" altLang="en-US" sz="1800" b="0" i="0">
                        <a:solidFill>
                          <a:srgbClr val="1F1F1F"/>
                        </a:solidFill>
                      </a:endParaRPr>
                    </a:p>
                  </a:txBody>
                  <a:tcPr marL="0" marR="0" marT="0" marB="0" anchor="ctr" anchorCtr="0"/>
                </a:tc>
              </a:tr>
              <a:tr h="335280">
                <a:tc>
                  <a:txBody>
                    <a:bodyPr/>
                    <a:p>
                      <a:pPr algn="ctr">
                        <a:buNone/>
                      </a:pPr>
                      <a:r>
                        <a:rPr lang="zh-CN" altLang="en-US" sz="1600" dirty="0">
                          <a:latin typeface="Cambria Math" panose="02040503050406030204" pitchFamily="18" charset="0"/>
                          <a:cs typeface="Cambria Math" panose="02040503050406030204" pitchFamily="18" charset="0"/>
                        </a:rPr>
                        <a:t>汤雅琴</a:t>
                      </a:r>
                      <a:endParaRPr lang="zh-CN" altLang="en-US" sz="1600" dirty="0">
                        <a:latin typeface="Cambria Math" panose="02040503050406030204" pitchFamily="18" charset="0"/>
                        <a:cs typeface="Cambria Math" panose="02040503050406030204" pitchFamily="18" charset="0"/>
                      </a:endParaRPr>
                    </a:p>
                  </a:txBody>
                  <a:tcPr/>
                </a:tc>
                <a:tc>
                  <a:txBody>
                    <a:bodyPr/>
                    <a:p>
                      <a:pPr algn="ctr" fontAlgn="ctr" latinLnBrk="0"/>
                      <a:r>
                        <a:rPr lang="zh-CN" altLang="en-US" sz="1800" b="0" i="0">
                          <a:solidFill>
                            <a:srgbClr val="1F1F1F"/>
                          </a:solidFill>
                        </a:rPr>
                        <a:t>手册的</a:t>
                      </a:r>
                      <a:r>
                        <a:rPr lang="en-US" altLang="zh-CN" sz="1800" b="0" i="0">
                          <a:solidFill>
                            <a:srgbClr val="1F1F1F"/>
                          </a:solidFill>
                        </a:rPr>
                        <a:t>OCR</a:t>
                      </a:r>
                      <a:r>
                        <a:rPr lang="zh-CN" altLang="en-US" sz="1800" b="0" i="0">
                          <a:solidFill>
                            <a:srgbClr val="1F1F1F"/>
                          </a:solidFill>
                        </a:rPr>
                        <a:t>处理、数据清洗、数据集构建与开源</a:t>
                      </a:r>
                      <a:endParaRPr lang="zh-CN" altLang="en-US" sz="1800" b="0" i="0">
                        <a:solidFill>
                          <a:srgbClr val="1F1F1F"/>
                        </a:solidFill>
                      </a:endParaRPr>
                    </a:p>
                  </a:txBody>
                  <a:tcPr marL="0" marR="0" marT="0" marB="0" anchor="ctr" anchorCtr="0"/>
                </a:tc>
              </a:tr>
              <a:tr h="335280">
                <a:tc>
                  <a:txBody>
                    <a:bodyPr/>
                    <a:p>
                      <a:pPr algn="ctr">
                        <a:buNone/>
                      </a:pPr>
                      <a:r>
                        <a:rPr lang="zh-CN" altLang="en-US" sz="1600"/>
                        <a:t>罗畅</a:t>
                      </a:r>
                      <a:endParaRPr lang="zh-CN" altLang="en-US" sz="1600"/>
                    </a:p>
                  </a:txBody>
                  <a:tcPr/>
                </a:tc>
                <a:tc>
                  <a:txBody>
                    <a:bodyPr/>
                    <a:p>
                      <a:pPr algn="ctr" fontAlgn="ctr" latinLnBrk="0"/>
                      <a:r>
                        <a:rPr lang="en-US" altLang="zh-CN" sz="1800" b="0" i="0">
                          <a:solidFill>
                            <a:srgbClr val="1F1F1F"/>
                          </a:solidFill>
                        </a:rPr>
                        <a:t>LoRA</a:t>
                      </a:r>
                      <a:r>
                        <a:rPr lang="zh-CN" altLang="en-US" sz="1800" b="0" i="0">
                          <a:solidFill>
                            <a:srgbClr val="1F1F1F"/>
                          </a:solidFill>
                        </a:rPr>
                        <a:t>微调与</a:t>
                      </a:r>
                      <a:r>
                        <a:rPr lang="en-US" altLang="zh-CN" sz="1800" b="0" i="0">
                          <a:solidFill>
                            <a:srgbClr val="1F1F1F"/>
                          </a:solidFill>
                        </a:rPr>
                        <a:t>Baseline</a:t>
                      </a:r>
                      <a:r>
                        <a:rPr lang="zh-CN" altLang="en-US" sz="1800" b="0" i="0">
                          <a:solidFill>
                            <a:srgbClr val="1F1F1F"/>
                          </a:solidFill>
                        </a:rPr>
                        <a:t>模型对比、</a:t>
                      </a:r>
                      <a:r>
                        <a:rPr lang="en-US" altLang="zh-CN" sz="1800" b="0" i="0">
                          <a:solidFill>
                            <a:srgbClr val="1F1F1F"/>
                          </a:solidFill>
                        </a:rPr>
                        <a:t>PPT</a:t>
                      </a:r>
                      <a:r>
                        <a:rPr lang="zh-CN" altLang="en-US" sz="1800" b="0" i="0">
                          <a:solidFill>
                            <a:srgbClr val="1F1F1F"/>
                          </a:solidFill>
                        </a:rPr>
                        <a:t>制作</a:t>
                      </a:r>
                      <a:endParaRPr lang="zh-CN" altLang="en-US" sz="1800" b="0" i="0">
                        <a:solidFill>
                          <a:srgbClr val="1F1F1F"/>
                        </a:solidFill>
                      </a:endParaRPr>
                    </a:p>
                  </a:txBody>
                  <a:tcPr marL="0" marR="0" marT="0" marB="0" anchor="ctr" anchorCtr="0"/>
                </a:tc>
              </a:tr>
              <a:tr h="335280">
                <a:tc>
                  <a:txBody>
                    <a:bodyPr/>
                    <a:p>
                      <a:pPr algn="ctr">
                        <a:buNone/>
                      </a:pPr>
                      <a:r>
                        <a:rPr lang="zh-CN" altLang="en-US" sz="1600"/>
                        <a:t>赵甫霖</a:t>
                      </a:r>
                      <a:endParaRPr lang="zh-CN" altLang="en-US" sz="1600"/>
                    </a:p>
                  </a:txBody>
                  <a:tcPr/>
                </a:tc>
                <a:tc>
                  <a:txBody>
                    <a:bodyPr/>
                    <a:p>
                      <a:pPr algn="ctr" fontAlgn="ctr" latinLnBrk="0"/>
                      <a:r>
                        <a:rPr lang="zh-CN" altLang="en-US" sz="1800" b="0" i="0">
                          <a:solidFill>
                            <a:srgbClr val="1F1F1F"/>
                          </a:solidFill>
                        </a:rPr>
                        <a:t>环境配置、</a:t>
                      </a:r>
                      <a:r>
                        <a:rPr lang="en-US" altLang="zh-CN" sz="1800" b="0" i="0">
                          <a:solidFill>
                            <a:srgbClr val="1F1F1F"/>
                          </a:solidFill>
                        </a:rPr>
                        <a:t>Loss</a:t>
                      </a:r>
                      <a:r>
                        <a:rPr lang="zh-CN" altLang="en-US" sz="1800" b="0" i="0">
                          <a:solidFill>
                            <a:srgbClr val="1F1F1F"/>
                          </a:solidFill>
                        </a:rPr>
                        <a:t>日志分析、实验报告撰写</a:t>
                      </a:r>
                      <a:endParaRPr lang="zh-CN" altLang="en-US" sz="1800" b="0" i="0">
                        <a:solidFill>
                          <a:srgbClr val="1F1F1F"/>
                        </a:solidFill>
                      </a:endParaRPr>
                    </a:p>
                  </a:txBody>
                  <a:tcPr marL="0" marR="0" marT="0" marB="0" anchor="ctr" anchorCtr="0"/>
                </a:tc>
              </a:tr>
            </a:tbl>
          </a:graphicData>
        </a:graphic>
      </p:graphicFrame>
      <p:sp>
        <p:nvSpPr>
          <p:cNvPr id="11" name="文本框 10"/>
          <p:cNvSpPr txBox="1"/>
          <p:nvPr/>
        </p:nvSpPr>
        <p:spPr>
          <a:xfrm>
            <a:off x="695325" y="5799455"/>
            <a:ext cx="10798810" cy="645160"/>
          </a:xfrm>
          <a:prstGeom prst="rect">
            <a:avLst/>
          </a:prstGeom>
          <a:noFill/>
        </p:spPr>
        <p:txBody>
          <a:bodyPr wrap="square">
            <a:spAutoFit/>
          </a:bodyPr>
          <a:p>
            <a:r>
              <a:rPr lang="zh-CN" altLang="en-US" b="1" dirty="0"/>
              <a:t>数据集开源：</a:t>
            </a:r>
            <a:r>
              <a:rPr lang="en-US" altLang="zh-CN" b="1" dirty="0"/>
              <a:t> </a:t>
            </a:r>
            <a:r>
              <a:rPr lang="en-US" altLang="zh-CN" b="1" dirty="0">
                <a:hlinkClick r:id="rId4" action="ppaction://hlinkfile"/>
              </a:rPr>
              <a:t>https://modelscope.cn/datasets/SkyFengSheng/HUSTPostgraduateHandbook/files</a:t>
            </a:r>
            <a:endParaRPr lang="en-US" altLang="zh-CN" b="1" dirty="0">
              <a:hlinkClick r:id="rId4" action="ppaction://hlinkfile"/>
            </a:endParaRPr>
          </a:p>
          <a:p>
            <a:r>
              <a:rPr lang="zh-CN" altLang="en-US" b="1" dirty="0">
                <a:sym typeface="+mn-ea"/>
              </a:rPr>
              <a:t>代码仓库：</a:t>
            </a:r>
            <a:r>
              <a:rPr lang="en-US" altLang="en-US" b="1" dirty="0">
                <a:sym typeface="+mn-ea"/>
                <a:hlinkClick r:id="rId5" tooltip="" action="ppaction://hlinkfile"/>
              </a:rPr>
              <a:t>https://github.com/HUSTerCH/exp_3_llm_train</a:t>
            </a:r>
            <a:endParaRPr lang="en-US" altLang="en-US" b="1" dirty="0">
              <a:sym typeface="+mn-ea"/>
            </a:endParaRPr>
          </a:p>
        </p:txBody>
      </p:sp>
      <p:sp>
        <p:nvSpPr>
          <p:cNvPr id="3" name="文本框 2"/>
          <p:cNvSpPr txBox="1"/>
          <p:nvPr/>
        </p:nvSpPr>
        <p:spPr>
          <a:xfrm>
            <a:off x="6732270" y="1845945"/>
            <a:ext cx="4064000" cy="914400"/>
          </a:xfrm>
          <a:prstGeom prst="rect">
            <a:avLst/>
          </a:prstGeom>
          <a:noFill/>
        </p:spPr>
        <p:txBody>
          <a:bodyPr wrap="squar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sp>
        <p:nvSpPr>
          <p:cNvPr id="8" name="文本框 7"/>
          <p:cNvSpPr txBox="1"/>
          <p:nvPr/>
        </p:nvSpPr>
        <p:spPr>
          <a:xfrm>
            <a:off x="1197142" y="1285008"/>
            <a:ext cx="10071146" cy="2306955"/>
          </a:xfrm>
          <a:prstGeom prst="rect">
            <a:avLst/>
          </a:prstGeom>
          <a:noFill/>
        </p:spPr>
        <p:txBody>
          <a:bodyPr wrap="square">
            <a:spAutoFit/>
          </a:bodyPr>
          <a:lstStyle/>
          <a:p>
            <a:pPr marL="285750" indent="-285750">
              <a:buFont typeface="Arial" panose="020B0604020202090204" pitchFamily="34" charset="0"/>
              <a:buChar char="•"/>
            </a:pPr>
            <a:r>
              <a:rPr lang="zh-CN" altLang="en-US" dirty="0">
                <a:ea typeface="+mn-lt"/>
                <a:cs typeface="+mn-lt"/>
              </a:rPr>
              <a:t>从项目地址下载项目，并按照指示安装必要的库、下载官方提供的训练好的模型、训练数据（使用</a:t>
            </a:r>
            <a:r>
              <a:rPr lang="en-US" altLang="zh-CN" dirty="0">
                <a:ea typeface="+mn-lt"/>
                <a:cs typeface="+mn-lt"/>
              </a:rPr>
              <a:t>Mini</a:t>
            </a:r>
            <a:r>
              <a:rPr lang="zh-CN" altLang="en-US" dirty="0">
                <a:ea typeface="+mn-lt"/>
                <a:cs typeface="+mn-lt"/>
              </a:rPr>
              <a:t>数据</a:t>
            </a:r>
            <a:r>
              <a:rPr lang="en-US" altLang="zh-CN" dirty="0">
                <a:ea typeface="+mn-lt"/>
                <a:cs typeface="+mn-lt"/>
              </a:rPr>
              <a:t>pretrain_t2t_mini.jsonl</a:t>
            </a:r>
            <a:r>
              <a:rPr lang="zh-CN" altLang="en-US" dirty="0">
                <a:ea typeface="+mn-lt"/>
                <a:cs typeface="+mn-lt"/>
              </a:rPr>
              <a:t>和</a:t>
            </a:r>
            <a:r>
              <a:rPr lang="en-US" altLang="zh-CN" dirty="0">
                <a:ea typeface="+mn-lt"/>
                <a:cs typeface="+mn-lt"/>
              </a:rPr>
              <a:t>sft_t2t_mini.jsonl</a:t>
            </a:r>
            <a:r>
              <a:rPr lang="zh-CN" altLang="en-US" dirty="0">
                <a:ea typeface="+mn-lt"/>
                <a:cs typeface="+mn-lt"/>
              </a:rPr>
              <a:t>）</a:t>
            </a:r>
            <a:endParaRPr lang="zh-CN" altLang="en-US" dirty="0">
              <a:ea typeface="+mn-lt"/>
              <a:cs typeface="+mn-lt"/>
            </a:endParaRPr>
          </a:p>
          <a:p>
            <a:pPr marL="285750" indent="-285750">
              <a:buFont typeface="Arial" panose="020B0604020202090204" pitchFamily="34" charset="0"/>
              <a:buChar char="•"/>
            </a:pPr>
            <a:r>
              <a:rPr lang="zh-CN" altLang="en-US" dirty="0">
                <a:ea typeface="+mn-lt"/>
                <a:cs typeface="+mn-lt"/>
              </a:rPr>
              <a:t>对《华中科技大学研究生</a:t>
            </a:r>
            <a:r>
              <a:rPr lang="zh-CN" altLang="en-US" dirty="0">
                <a:ea typeface="+mn-lt"/>
                <a:cs typeface="+mn-lt"/>
              </a:rPr>
              <a:t>手册》，本实验执行从手册到微调指令集的如下步骤：</a:t>
            </a:r>
            <a:endParaRPr lang="zh-CN" altLang="en-US" dirty="0">
              <a:ea typeface="+mn-lt"/>
              <a:cs typeface="+mn-lt"/>
            </a:endParaRPr>
          </a:p>
          <a:p>
            <a:pPr marL="800100" lvl="1" indent="-342900">
              <a:buFont typeface="Arial" panose="020B0604020202090204" pitchFamily="34" charset="0"/>
              <a:buAutoNum type="arabicPeriod"/>
            </a:pPr>
            <a:r>
              <a:rPr lang="zh-CN" altLang="en-US" dirty="0">
                <a:ea typeface="+mn-lt"/>
                <a:cs typeface="+mn-lt"/>
              </a:rPr>
              <a:t>使用</a:t>
            </a:r>
            <a:r>
              <a:rPr lang="en-US" altLang="zh-CN" dirty="0">
                <a:ea typeface="+mn-lt"/>
                <a:cs typeface="+mn-lt"/>
              </a:rPr>
              <a:t>PaddleOCR</a:t>
            </a:r>
            <a:r>
              <a:rPr lang="zh-CN" altLang="en-US" dirty="0">
                <a:ea typeface="+mn-lt"/>
                <a:cs typeface="+mn-lt"/>
              </a:rPr>
              <a:t>，将手册内容转为</a:t>
            </a:r>
            <a:r>
              <a:rPr lang="en-US" altLang="zh-CN" dirty="0">
                <a:ea typeface="+mn-lt"/>
                <a:cs typeface="+mn-lt"/>
              </a:rPr>
              <a:t>Markdown</a:t>
            </a:r>
            <a:r>
              <a:rPr lang="zh-CN" altLang="en-US" dirty="0">
                <a:ea typeface="+mn-lt"/>
                <a:cs typeface="+mn-lt"/>
              </a:rPr>
              <a:t>格式</a:t>
            </a:r>
            <a:endParaRPr lang="zh-CN" altLang="en-US" dirty="0">
              <a:ea typeface="+mn-lt"/>
              <a:cs typeface="+mn-lt"/>
            </a:endParaRPr>
          </a:p>
          <a:p>
            <a:pPr marL="800100" lvl="1" indent="-342900">
              <a:buFont typeface="Arial" panose="020B0604020202090204" pitchFamily="34" charset="0"/>
              <a:buAutoNum type="arabicPeriod"/>
            </a:pPr>
            <a:r>
              <a:rPr lang="zh-CN" altLang="en-US" dirty="0">
                <a:ea typeface="+mn-lt"/>
                <a:cs typeface="+mn-lt"/>
              </a:rPr>
              <a:t>经过手动检查后，按照章节切分，存入</a:t>
            </a:r>
            <a:r>
              <a:rPr lang="en-US" altLang="zh-CN" dirty="0">
                <a:ea typeface="+mn-lt"/>
                <a:cs typeface="+mn-lt"/>
              </a:rPr>
              <a:t>SQLite</a:t>
            </a:r>
            <a:r>
              <a:rPr lang="zh-CN" altLang="en-US" dirty="0">
                <a:ea typeface="+mn-lt"/>
                <a:cs typeface="+mn-lt"/>
              </a:rPr>
              <a:t>数据库</a:t>
            </a:r>
            <a:endParaRPr lang="zh-CN" altLang="en-US" dirty="0">
              <a:ea typeface="+mn-lt"/>
              <a:cs typeface="+mn-lt"/>
            </a:endParaRPr>
          </a:p>
          <a:p>
            <a:pPr marL="800100" lvl="1" indent="-342900">
              <a:buFont typeface="Arial" panose="020B0604020202090204" pitchFamily="34" charset="0"/>
              <a:buAutoNum type="arabicPeriod"/>
            </a:pPr>
            <a:r>
              <a:rPr lang="zh-CN" altLang="en-US" dirty="0">
                <a:ea typeface="+mn-lt"/>
                <a:cs typeface="+mn-lt"/>
              </a:rPr>
              <a:t>针对不同章节，结合关键词匹配，调用三个不同的在线大模型（</a:t>
            </a:r>
            <a:r>
              <a:rPr lang="en-US" altLang="zh-CN" dirty="0">
                <a:ea typeface="+mn-lt"/>
                <a:cs typeface="+mn-lt"/>
              </a:rPr>
              <a:t>Kimi-K2.5</a:t>
            </a:r>
            <a:r>
              <a:rPr lang="zh-CN" altLang="en-US" dirty="0">
                <a:ea typeface="+mn-lt"/>
                <a:cs typeface="+mn-lt"/>
              </a:rPr>
              <a:t>，</a:t>
            </a:r>
            <a:r>
              <a:rPr lang="en-US" altLang="zh-CN" dirty="0">
                <a:ea typeface="+mn-lt"/>
                <a:cs typeface="+mn-lt"/>
              </a:rPr>
              <a:t>Qwen3-Max</a:t>
            </a:r>
            <a:r>
              <a:rPr lang="zh-CN" altLang="en-US" dirty="0">
                <a:ea typeface="+mn-lt"/>
                <a:cs typeface="+mn-lt"/>
              </a:rPr>
              <a:t>，</a:t>
            </a:r>
            <a:r>
              <a:rPr lang="en-US" altLang="zh-CN" dirty="0">
                <a:ea typeface="+mn-lt"/>
                <a:cs typeface="+mn-lt"/>
              </a:rPr>
              <a:t>DeepSeek-V3.2</a:t>
            </a:r>
            <a:r>
              <a:rPr lang="zh-CN" altLang="en-US" dirty="0">
                <a:ea typeface="+mn-lt"/>
                <a:cs typeface="+mn-lt"/>
              </a:rPr>
              <a:t>）生成不同数量的问答形式数据</a:t>
            </a:r>
            <a:endParaRPr lang="zh-CN" altLang="en-US" dirty="0">
              <a:ea typeface="+mn-lt"/>
              <a:cs typeface="+mn-lt"/>
            </a:endParaRPr>
          </a:p>
          <a:p>
            <a:pPr marL="800100" lvl="1" indent="-342900">
              <a:buFont typeface="Arial" panose="020B0604020202090204" pitchFamily="34" charset="0"/>
              <a:buAutoNum type="arabicPeriod"/>
            </a:pPr>
            <a:r>
              <a:rPr lang="zh-CN" altLang="en-US" dirty="0">
                <a:ea typeface="+mn-lt"/>
                <a:cs typeface="+mn-lt"/>
              </a:rPr>
              <a:t>汇总数据，生成适配微调的</a:t>
            </a:r>
            <a:r>
              <a:rPr lang="en-US" altLang="zh-CN" dirty="0">
                <a:ea typeface="+mn-lt"/>
                <a:cs typeface="+mn-lt"/>
              </a:rPr>
              <a:t>ShareGPT</a:t>
            </a:r>
            <a:r>
              <a:rPr lang="zh-CN" altLang="en-US" dirty="0">
                <a:ea typeface="+mn-lt"/>
                <a:cs typeface="+mn-lt"/>
              </a:rPr>
              <a:t>格式</a:t>
            </a:r>
            <a:r>
              <a:rPr lang="en-US" altLang="zh-CN" dirty="0">
                <a:ea typeface="+mn-lt"/>
                <a:cs typeface="+mn-lt"/>
              </a:rPr>
              <a:t>JSONL</a:t>
            </a:r>
            <a:r>
              <a:rPr lang="zh-CN" altLang="en-US" dirty="0">
                <a:ea typeface="+mn-lt"/>
                <a:cs typeface="+mn-lt"/>
              </a:rPr>
              <a:t>数据，共</a:t>
            </a:r>
            <a:r>
              <a:rPr lang="en-US" altLang="zh-CN" dirty="0">
                <a:ea typeface="+mn-lt"/>
                <a:cs typeface="+mn-lt"/>
              </a:rPr>
              <a:t>2230</a:t>
            </a:r>
            <a:r>
              <a:rPr lang="zh-CN" altLang="en-US" dirty="0">
                <a:ea typeface="+mn-lt"/>
                <a:cs typeface="+mn-lt"/>
              </a:rPr>
              <a:t>条</a:t>
            </a:r>
            <a:endParaRPr lang="zh-CN" altLang="en-US" dirty="0">
              <a:ea typeface="+mn-lt"/>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350" y="877414"/>
            <a:ext cx="3774210" cy="46166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总览</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02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过程</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1196975" y="1285240"/>
            <a:ext cx="10779760" cy="368300"/>
          </a:xfrm>
          <a:prstGeom prst="rect">
            <a:avLst/>
          </a:prstGeom>
          <a:noFill/>
        </p:spPr>
        <p:txBody>
          <a:bodyPr wrap="square">
            <a:spAutoFit/>
          </a:bodyPr>
          <a:lstStyle/>
          <a:p>
            <a:pPr indent="0">
              <a:buFont typeface="Arial" panose="020B0604020202090204" pitchFamily="34" charset="0"/>
              <a:buNone/>
            </a:pPr>
            <a:r>
              <a:rPr lang="zh-CN" altLang="en-US" dirty="0">
                <a:ea typeface="+mn-lt"/>
                <a:cs typeface="+mn-lt"/>
              </a:rPr>
              <a:t>本次实验一共执行了如下训练，训练均在</a:t>
            </a:r>
            <a:r>
              <a:rPr lang="en-US" altLang="zh-CN" dirty="0">
                <a:ea typeface="+mn-lt"/>
                <a:cs typeface="+mn-lt"/>
              </a:rPr>
              <a:t>RTX 3090 24G</a:t>
            </a:r>
            <a:r>
              <a:rPr lang="zh-CN" altLang="en-US" dirty="0">
                <a:ea typeface="+mn-lt"/>
                <a:cs typeface="+mn-lt"/>
              </a:rPr>
              <a:t>上</a:t>
            </a:r>
            <a:r>
              <a:rPr lang="zh-CN" altLang="en-US" dirty="0">
                <a:ea typeface="+mn-lt"/>
                <a:cs typeface="+mn-lt"/>
              </a:rPr>
              <a:t>完成：</a:t>
            </a:r>
            <a:endParaRPr lang="zh-CN" altLang="en-US" dirty="0">
              <a:ea typeface="+mn-lt"/>
              <a:cs typeface="+mn-lt"/>
            </a:endParaRPr>
          </a:p>
        </p:txBody>
      </p:sp>
      <p:graphicFrame>
        <p:nvGraphicFramePr>
          <p:cNvPr id="3" name="表格 2"/>
          <p:cNvGraphicFramePr/>
          <p:nvPr/>
        </p:nvGraphicFramePr>
        <p:xfrm>
          <a:off x="921385" y="1765935"/>
          <a:ext cx="10349865" cy="1851660"/>
        </p:xfrm>
        <a:graphic>
          <a:graphicData uri="http://schemas.openxmlformats.org/drawingml/2006/table">
            <a:tbl>
              <a:tblPr firstRow="1">
                <a:tableStyleId>{5C22544A-7EE6-4342-B048-85BDC9FD1C3A}</a:tableStyleId>
              </a:tblPr>
              <a:tblGrid>
                <a:gridCol w="1236980"/>
                <a:gridCol w="2082800"/>
                <a:gridCol w="3526155"/>
                <a:gridCol w="758825"/>
                <a:gridCol w="1000125"/>
                <a:gridCol w="806450"/>
                <a:gridCol w="938654"/>
              </a:tblGrid>
              <a:tr h="342900">
                <a:tc>
                  <a:txBody>
                    <a:bodyPr/>
                    <a:p>
                      <a:pPr algn="ctr" fontAlgn="ctr" latinLnBrk="0"/>
                      <a:r>
                        <a:rPr lang="zh-CN" altLang="en-US" sz="1600"/>
                        <a:t>训练</a:t>
                      </a:r>
                      <a:r>
                        <a:rPr lang="zh-CN" altLang="en-US" sz="1600"/>
                        <a:t>阶段</a:t>
                      </a:r>
                      <a:endParaRPr lang="zh-CN" altLang="en-US" sz="1600"/>
                    </a:p>
                  </a:txBody>
                  <a:tcPr marL="0" marR="0" marT="0" marB="0" anchor="ctr" anchorCtr="0"/>
                </a:tc>
                <a:tc>
                  <a:txBody>
                    <a:bodyPr/>
                    <a:p>
                      <a:pPr algn="ctr" fontAlgn="ctr" latinLnBrk="0"/>
                      <a:r>
                        <a:rPr lang="zh-CN" altLang="en-US" sz="1600"/>
                        <a:t>调用</a:t>
                      </a:r>
                      <a:r>
                        <a:rPr lang="zh-CN" altLang="en-US" sz="1600"/>
                        <a:t>脚本</a:t>
                      </a:r>
                      <a:endParaRPr lang="zh-CN" altLang="en-US" sz="1600"/>
                    </a:p>
                  </a:txBody>
                  <a:tcPr marL="0" marR="0" marT="0" marB="0" anchor="ctr" anchorCtr="0"/>
                </a:tc>
                <a:tc>
                  <a:txBody>
                    <a:bodyPr/>
                    <a:p>
                      <a:pPr algn="ctr" fontAlgn="ctr" latinLnBrk="0"/>
                      <a:r>
                        <a:rPr lang="zh-CN" altLang="en-US" sz="1600"/>
                        <a:t>数据集</a:t>
                      </a:r>
                      <a:endParaRPr lang="zh-CN" altLang="en-US" sz="1600"/>
                    </a:p>
                  </a:txBody>
                  <a:tcPr marL="0" marR="0" marT="0" marB="0" anchor="ctr" anchorCtr="0"/>
                </a:tc>
                <a:tc>
                  <a:txBody>
                    <a:bodyPr/>
                    <a:p>
                      <a:pPr algn="ctr" fontAlgn="ctr" latinLnBrk="0"/>
                      <a:r>
                        <a:rPr lang="zh-CN" altLang="en-US" sz="1600"/>
                        <a:t>批大小</a:t>
                      </a:r>
                      <a:endParaRPr lang="zh-CN" altLang="en-US" sz="1600"/>
                    </a:p>
                  </a:txBody>
                  <a:tcPr marL="0" marR="0" marT="0" marB="0" anchor="ctr" anchorCtr="0"/>
                </a:tc>
                <a:tc>
                  <a:txBody>
                    <a:bodyPr/>
                    <a:p>
                      <a:pPr algn="ctr" fontAlgn="ctr" latinLnBrk="0">
                        <a:buNone/>
                      </a:pPr>
                      <a:r>
                        <a:rPr lang="zh-CN" altLang="en-US" sz="1600"/>
                        <a:t>梯度</a:t>
                      </a:r>
                      <a:r>
                        <a:rPr lang="zh-CN" altLang="en-US" sz="1600"/>
                        <a:t>积累</a:t>
                      </a:r>
                      <a:endParaRPr lang="zh-CN" altLang="en-US" sz="1600"/>
                    </a:p>
                  </a:txBody>
                  <a:tcPr marL="0" marR="0" marT="0" marB="0" anchor="ctr" anchorCtr="0"/>
                </a:tc>
                <a:tc>
                  <a:txBody>
                    <a:bodyPr/>
                    <a:p>
                      <a:pPr algn="ctr" fontAlgn="ctr" latinLnBrk="0">
                        <a:buNone/>
                      </a:pPr>
                      <a:r>
                        <a:rPr lang="en-US" altLang="zh-CN" sz="1600"/>
                        <a:t>Epoch</a:t>
                      </a:r>
                      <a:endParaRPr lang="en-US" altLang="zh-CN" sz="1600"/>
                    </a:p>
                  </a:txBody>
                  <a:tcPr marL="0" marR="0" marT="0" marB="0" anchor="ctr" anchorCtr="0"/>
                </a:tc>
                <a:tc>
                  <a:txBody>
                    <a:bodyPr/>
                    <a:p>
                      <a:pPr algn="ctr" fontAlgn="ctr" latinLnBrk="0">
                        <a:buNone/>
                      </a:pPr>
                      <a:r>
                        <a:rPr lang="zh-CN" altLang="en-US" sz="1600"/>
                        <a:t>学习</a:t>
                      </a:r>
                      <a:r>
                        <a:rPr lang="zh-CN" altLang="en-US" sz="1600"/>
                        <a:t>率</a:t>
                      </a:r>
                      <a:endParaRPr lang="zh-CN" altLang="en-US" sz="1600"/>
                    </a:p>
                  </a:txBody>
                  <a:tcPr marL="0" marR="0" marT="0" marB="0" anchor="ctr" anchorCtr="0"/>
                </a:tc>
              </a:tr>
              <a:tr h="342900">
                <a:tc>
                  <a:txBody>
                    <a:bodyPr/>
                    <a:p>
                      <a:pPr algn="ctr" fontAlgn="ctr" latinLnBrk="0"/>
                      <a:r>
                        <a:rPr lang="zh-CN" altLang="en-US" sz="1800" b="0" i="0">
                          <a:solidFill>
                            <a:srgbClr val="1F1F1F"/>
                          </a:solidFill>
                        </a:rPr>
                        <a:t>预训练</a:t>
                      </a:r>
                      <a:endParaRPr lang="zh-CN" altLang="en-US" sz="1800" b="0" i="0">
                        <a:solidFill>
                          <a:srgbClr val="1F1F1F"/>
                        </a:solidFill>
                      </a:endParaRPr>
                    </a:p>
                  </a:txBody>
                  <a:tcPr marL="0" marR="0" marT="0" marB="0" anchor="ctr" anchorCtr="0"/>
                </a:tc>
                <a:tc>
                  <a:txBody>
                    <a:bodyPr/>
                    <a:p>
                      <a:pPr algn="ctr" fontAlgn="ctr" latinLnBrk="0"/>
                      <a:r>
                        <a:rPr lang="en-US" altLang="zh-CN" sz="1800" dirty="0">
                          <a:ea typeface="+mn-lt"/>
                          <a:cs typeface="+mn-lt"/>
                          <a:sym typeface="+mn-ea"/>
                        </a:rPr>
                        <a:t>train_pretrain.py</a:t>
                      </a:r>
                      <a:endParaRPr lang="en-US" altLang="zh-CN" sz="1800" b="0" i="0">
                        <a:solidFill>
                          <a:srgbClr val="1F1F1F"/>
                        </a:solidFill>
                      </a:endParaRPr>
                    </a:p>
                  </a:txBody>
                  <a:tcPr marL="0" marR="0" marT="0" marB="0" anchor="ctr" anchorCtr="0"/>
                </a:tc>
                <a:tc>
                  <a:txBody>
                    <a:bodyPr/>
                    <a:p>
                      <a:pPr algn="ctr" fontAlgn="ctr" latinLnBrk="0"/>
                      <a:r>
                        <a:rPr lang="en-US" altLang="zh-CN" sz="1800" dirty="0">
                          <a:ea typeface="+mn-lt"/>
                          <a:cs typeface="+mn-lt"/>
                          <a:sym typeface="+mn-ea"/>
                        </a:rPr>
                        <a:t>pretrain_t2t_mini.jsonl</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128</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4</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3</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5e-4</a:t>
                      </a:r>
                      <a:endParaRPr lang="en-US" altLang="zh-CN" sz="1800" b="0" i="0">
                        <a:solidFill>
                          <a:srgbClr val="1F1F1F"/>
                        </a:solidFill>
                      </a:endParaRPr>
                    </a:p>
                  </a:txBody>
                  <a:tcPr marL="0" marR="0" marT="0" marB="0" anchor="ctr" anchorCtr="0"/>
                </a:tc>
              </a:tr>
              <a:tr h="342900">
                <a:tc>
                  <a:txBody>
                    <a:bodyPr/>
                    <a:p>
                      <a:pPr algn="ctr" fontAlgn="ctr" latinLnBrk="0"/>
                      <a:r>
                        <a:rPr lang="en-US" altLang="zh-CN" sz="1800" b="0" i="0">
                          <a:solidFill>
                            <a:srgbClr val="1F1F1F"/>
                          </a:solidFill>
                        </a:rPr>
                        <a:t>SFT</a:t>
                      </a:r>
                      <a:r>
                        <a:rPr lang="zh-CN" altLang="en-US" sz="1800" b="0" i="0">
                          <a:solidFill>
                            <a:srgbClr val="1F1F1F"/>
                          </a:solidFill>
                        </a:rPr>
                        <a:t>训练</a:t>
                      </a:r>
                      <a:endParaRPr lang="zh-CN" altLang="en-US" sz="1800" b="0" i="0">
                        <a:solidFill>
                          <a:srgbClr val="1F1F1F"/>
                        </a:solidFill>
                      </a:endParaRPr>
                    </a:p>
                  </a:txBody>
                  <a:tcPr marL="0" marR="0" marT="0" marB="0" anchor="ctr" anchorCtr="0"/>
                </a:tc>
                <a:tc>
                  <a:txBody>
                    <a:bodyPr/>
                    <a:p>
                      <a:pPr algn="ctr" fontAlgn="ctr" latinLnBrk="0"/>
                      <a:r>
                        <a:rPr lang="en-US" altLang="zh-CN" sz="1800" dirty="0">
                          <a:ea typeface="+mn-lt"/>
                          <a:cs typeface="+mn-lt"/>
                          <a:sym typeface="+mn-ea"/>
                        </a:rPr>
                        <a:t>train_full_sft.py</a:t>
                      </a:r>
                      <a:endParaRPr lang="zh-CN" altLang="en-US" sz="1800" b="0" i="0">
                        <a:solidFill>
                          <a:srgbClr val="1F1F1F"/>
                        </a:solidFill>
                      </a:endParaRPr>
                    </a:p>
                  </a:txBody>
                  <a:tcPr marL="0" marR="0" marT="0" marB="0" anchor="ctr" anchorCtr="0"/>
                </a:tc>
                <a:tc>
                  <a:txBody>
                    <a:bodyPr/>
                    <a:p>
                      <a:pPr algn="ctr" fontAlgn="ctr" latinLnBrk="0"/>
                      <a:r>
                        <a:rPr lang="en-US" altLang="zh-CN" sz="1800" dirty="0">
                          <a:ea typeface="+mn-lt"/>
                          <a:cs typeface="+mn-lt"/>
                          <a:sym typeface="+mn-ea"/>
                        </a:rPr>
                        <a:t>sft_t2t_mini.jsonl</a:t>
                      </a:r>
                      <a:endParaRPr lang="en-US" altLang="zh-CN" sz="1800" b="0" i="0">
                        <a:solidFill>
                          <a:srgbClr val="1F1F1F"/>
                        </a:solidFill>
                      </a:endParaRPr>
                    </a:p>
                  </a:txBody>
                  <a:tcPr marL="0" marR="0" marT="0" marB="0" anchor="ctr" anchorCtr="0"/>
                </a:tc>
                <a:tc>
                  <a:txBody>
                    <a:bodyPr/>
                    <a:p>
                      <a:pPr algn="ctr" fontAlgn="ctr" latinLnBrk="0"/>
                      <a:r>
                        <a:rPr lang="en-US" altLang="zh-CN" sz="1800" b="0" i="0">
                          <a:solidFill>
                            <a:srgbClr val="1F1F1F"/>
                          </a:solidFill>
                        </a:rPr>
                        <a:t>128</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4</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1+1</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2</a:t>
                      </a:r>
                      <a:r>
                        <a:rPr lang="en-US" altLang="zh-CN" sz="1800" b="0" i="0">
                          <a:solidFill>
                            <a:srgbClr val="1F1F1F"/>
                          </a:solidFill>
                        </a:rPr>
                        <a:t>e-5</a:t>
                      </a:r>
                      <a:endParaRPr lang="en-US" altLang="zh-CN" sz="1800" b="0" i="0">
                        <a:solidFill>
                          <a:srgbClr val="1F1F1F"/>
                        </a:solidFill>
                      </a:endParaRPr>
                    </a:p>
                  </a:txBody>
                  <a:tcPr marL="0" marR="0" marT="0" marB="0" anchor="ctr" anchorCtr="0"/>
                </a:tc>
              </a:tr>
              <a:tr h="342900">
                <a:tc rowSpan="2">
                  <a:txBody>
                    <a:bodyPr/>
                    <a:p>
                      <a:pPr algn="ctr" fontAlgn="ctr" latinLnBrk="0"/>
                      <a:r>
                        <a:rPr lang="en-US" altLang="zh-CN" sz="1800" b="0" i="0">
                          <a:solidFill>
                            <a:srgbClr val="1F1F1F"/>
                          </a:solidFill>
                        </a:rPr>
                        <a:t>LoRA</a:t>
                      </a:r>
                      <a:r>
                        <a:rPr lang="zh-CN" altLang="en-US" sz="1800" b="0" i="0">
                          <a:solidFill>
                            <a:srgbClr val="1F1F1F"/>
                          </a:solidFill>
                        </a:rPr>
                        <a:t>微调</a:t>
                      </a:r>
                      <a:endParaRPr lang="zh-CN" altLang="en-US" sz="1800" b="0" i="0">
                        <a:solidFill>
                          <a:srgbClr val="1F1F1F"/>
                        </a:solidFill>
                      </a:endParaRPr>
                    </a:p>
                  </a:txBody>
                  <a:tcPr marL="0" marR="0" marT="0" marB="0" anchor="ctr" anchorCtr="0"/>
                </a:tc>
                <a:tc rowSpan="2">
                  <a:txBody>
                    <a:bodyPr/>
                    <a:p>
                      <a:pPr algn="ctr" fontAlgn="ctr" latinLnBrk="0"/>
                      <a:r>
                        <a:rPr lang="zh-CN" altLang="en-US" sz="1800" b="0" i="0">
                          <a:solidFill>
                            <a:srgbClr val="1F1F1F"/>
                          </a:solidFill>
                        </a:rPr>
                        <a:t>略微修改</a:t>
                      </a:r>
                      <a:r>
                        <a:rPr lang="en-US" altLang="zh-CN" sz="1800" dirty="0">
                          <a:ea typeface="+mn-lt"/>
                          <a:cs typeface="+mn-lt"/>
                          <a:sym typeface="+mn-ea"/>
                        </a:rPr>
                        <a:t>train_lora.py</a:t>
                      </a:r>
                      <a:r>
                        <a:rPr lang="zh-CN" altLang="en-US" sz="1800" dirty="0">
                          <a:ea typeface="+mn-lt"/>
                          <a:cs typeface="+mn-lt"/>
                          <a:sym typeface="+mn-ea"/>
                        </a:rPr>
                        <a:t>和</a:t>
                      </a:r>
                      <a:r>
                        <a:rPr lang="en-US" altLang="zh-CN" sz="1800" dirty="0">
                          <a:ea typeface="+mn-lt"/>
                          <a:cs typeface="+mn-lt"/>
                          <a:sym typeface="+mn-ea"/>
                        </a:rPr>
                        <a:t>model_lora.py</a:t>
                      </a:r>
                      <a:endParaRPr lang="zh-CN" altLang="en-US" sz="1800" b="0" i="0" dirty="0">
                        <a:solidFill>
                          <a:srgbClr val="1F1F1F"/>
                        </a:solidFill>
                        <a:ea typeface="+mn-lt"/>
                        <a:cs typeface="+mn-lt"/>
                        <a:sym typeface="+mn-ea"/>
                      </a:endParaRPr>
                    </a:p>
                  </a:txBody>
                  <a:tcPr marL="0" marR="0" marT="0" marB="0" anchor="ctr" anchorCtr="0"/>
                </a:tc>
                <a:tc rowSpan="2">
                  <a:txBody>
                    <a:bodyPr/>
                    <a:p>
                      <a:pPr algn="ctr" fontAlgn="ctr" latinLnBrk="0"/>
                      <a:r>
                        <a:rPr lang="zh-CN" altLang="en-US" sz="1800" dirty="0">
                          <a:ea typeface="+mn-lt"/>
                          <a:cs typeface="+mn-lt"/>
                          <a:sym typeface="+mn-ea"/>
                        </a:rPr>
                        <a:t>自己构建的《研究生手册》数据集</a:t>
                      </a:r>
                      <a:endParaRPr lang="en-US" altLang="zh-CN" sz="1800" b="0" i="0">
                        <a:solidFill>
                          <a:srgbClr val="1F1F1F"/>
                        </a:solidFill>
                      </a:endParaRPr>
                    </a:p>
                  </a:txBody>
                  <a:tcPr marL="0" marR="0" marT="0" marB="0" anchor="ctr" anchorCtr="0"/>
                </a:tc>
                <a:tc rowSpan="2">
                  <a:txBody>
                    <a:bodyPr/>
                    <a:p>
                      <a:pPr algn="ctr" fontAlgn="ctr" latinLnBrk="0"/>
                      <a:r>
                        <a:rPr lang="en-US" altLang="zh-CN" sz="1800" b="0" i="0">
                          <a:solidFill>
                            <a:srgbClr val="1F1F1F"/>
                          </a:solidFill>
                        </a:rPr>
                        <a:t>64</a:t>
                      </a:r>
                      <a:endParaRPr lang="en-US" altLang="zh-CN" sz="1800" b="0" i="0">
                        <a:solidFill>
                          <a:srgbClr val="1F1F1F"/>
                        </a:solidFill>
                      </a:endParaRPr>
                    </a:p>
                  </a:txBody>
                  <a:tcPr marL="0" marR="0" marT="0" marB="0" anchor="ctr" anchorCtr="0"/>
                </a:tc>
                <a:tc rowSpan="2">
                  <a:txBody>
                    <a:bodyPr/>
                    <a:p>
                      <a:pPr algn="ctr" fontAlgn="ctr" latinLnBrk="0">
                        <a:buNone/>
                      </a:pPr>
                      <a:r>
                        <a:rPr lang="en-US" altLang="zh-CN" sz="1800" b="0" i="0">
                          <a:solidFill>
                            <a:srgbClr val="1F1F1F"/>
                          </a:solidFill>
                        </a:rPr>
                        <a:t>1</a:t>
                      </a:r>
                      <a:endParaRPr lang="en-US" altLang="zh-CN" sz="1800" b="0" i="0">
                        <a:solidFill>
                          <a:srgbClr val="1F1F1F"/>
                        </a:solidFill>
                      </a:endParaRPr>
                    </a:p>
                  </a:txBody>
                  <a:tcPr marL="0" marR="0" marT="0" marB="0" anchor="ctr" anchorCtr="0"/>
                </a:tc>
                <a:tc>
                  <a:txBody>
                    <a:bodyPr/>
                    <a:p>
                      <a:pPr algn="ctr" fontAlgn="ctr" latinLnBrk="0">
                        <a:buNone/>
                      </a:pPr>
                      <a:r>
                        <a:rPr lang="en-US" altLang="zh-CN" sz="1800" b="0" i="0">
                          <a:solidFill>
                            <a:srgbClr val="1F1F1F"/>
                          </a:solidFill>
                        </a:rPr>
                        <a:t>6</a:t>
                      </a:r>
                      <a:endParaRPr lang="en-US" altLang="zh-CN" sz="1800" b="0" i="0">
                        <a:solidFill>
                          <a:srgbClr val="1F1F1F"/>
                        </a:solidFill>
                      </a:endParaRPr>
                    </a:p>
                  </a:txBody>
                  <a:tcPr marL="0" marR="0" marT="0" marB="0" anchor="ctr" anchorCtr="0"/>
                </a:tc>
                <a:tc rowSpan="2">
                  <a:txBody>
                    <a:bodyPr/>
                    <a:p>
                      <a:pPr algn="ctr" fontAlgn="ctr" latinLnBrk="0">
                        <a:buNone/>
                      </a:pPr>
                      <a:r>
                        <a:rPr lang="en-US" altLang="zh-CN" sz="1800" b="0" i="0">
                          <a:solidFill>
                            <a:srgbClr val="1F1F1F"/>
                          </a:solidFill>
                        </a:rPr>
                        <a:t>2e-4</a:t>
                      </a:r>
                      <a:endParaRPr lang="en-US" altLang="zh-CN" sz="1800" b="0" i="0">
                        <a:solidFill>
                          <a:srgbClr val="1F1F1F"/>
                        </a:solidFill>
                      </a:endParaRPr>
                    </a:p>
                  </a:txBody>
                  <a:tcPr marL="0" marR="0" marT="0" marB="0" anchor="ctr" anchorCtr="0"/>
                </a:tc>
              </a:tr>
              <a:tr h="342900">
                <a:tc vMerge="1">
                  <a:tcPr marL="0" marR="0" marT="0" marB="0" anchor="ctr" anchorCtr="0"/>
                </a:tc>
                <a:tc vMerge="1">
                  <a:tcPr marL="0" marR="0" marT="0" marB="0" anchor="ctr" anchorCtr="0"/>
                </a:tc>
                <a:tc vMerge="1">
                  <a:tcPr marL="0" marR="0" marT="0" marB="0" anchor="ctr" anchorCtr="0"/>
                </a:tc>
                <a:tc vMerge="1">
                  <a:tcPr marL="0" marR="0" marT="0" marB="0" anchor="ctr" anchorCtr="0"/>
                </a:tc>
                <a:tc vMerge="1">
                  <a:tcPr marL="0" marR="0" marT="0" marB="0" anchor="ctr" anchorCtr="0"/>
                </a:tc>
                <a:tc>
                  <a:txBody>
                    <a:bodyPr/>
                    <a:p>
                      <a:pPr algn="ctr" fontAlgn="ctr" latinLnBrk="0">
                        <a:buNone/>
                      </a:pPr>
                      <a:r>
                        <a:rPr lang="en-US" altLang="zh-CN" sz="1800" b="0" i="0">
                          <a:solidFill>
                            <a:srgbClr val="1F1F1F"/>
                          </a:solidFill>
                        </a:rPr>
                        <a:t>10</a:t>
                      </a:r>
                      <a:endParaRPr lang="en-US" altLang="zh-CN" sz="1800" b="0" i="0">
                        <a:solidFill>
                          <a:srgbClr val="1F1F1F"/>
                        </a:solidFill>
                      </a:endParaRPr>
                    </a:p>
                  </a:txBody>
                  <a:tcPr marL="0" marR="0" marT="0" marB="0" anchor="ctr" anchorCtr="0"/>
                </a:tc>
                <a:tc vMerge="1">
                  <a:tcPr marL="0" marR="0" marT="0" marB="0" anchor="ctr" anchorCtr="0"/>
                </a:tc>
              </a:tr>
            </a:tbl>
          </a:graphicData>
        </a:graphic>
      </p:graphicFrame>
      <p:sp>
        <p:nvSpPr>
          <p:cNvPr id="8" name="文本框 7"/>
          <p:cNvSpPr txBox="1"/>
          <p:nvPr/>
        </p:nvSpPr>
        <p:spPr>
          <a:xfrm>
            <a:off x="1088390" y="4062730"/>
            <a:ext cx="10779760" cy="2168525"/>
          </a:xfrm>
          <a:prstGeom prst="rect">
            <a:avLst/>
          </a:prstGeom>
          <a:noFill/>
        </p:spPr>
        <p:txBody>
          <a:bodyPr wrap="square">
            <a:spAutoFit/>
          </a:bodyPr>
          <a:lstStyle/>
          <a:p>
            <a:pPr indent="0" fontAlgn="auto">
              <a:lnSpc>
                <a:spcPct val="150000"/>
              </a:lnSpc>
              <a:buFont typeface="Arial" panose="020B0604020202090204" pitchFamily="34" charset="0"/>
              <a:buNone/>
            </a:pPr>
            <a:r>
              <a:rPr lang="zh-CN" altLang="en-US" dirty="0">
                <a:ea typeface="+mn-lt"/>
                <a:cs typeface="+mn-lt"/>
              </a:rPr>
              <a:t>由于数据量庞大，且希望能在中途评估训练结果，所以将</a:t>
            </a:r>
            <a:r>
              <a:rPr lang="en-US" altLang="zh-CN" dirty="0">
                <a:ea typeface="+mn-lt"/>
                <a:cs typeface="+mn-lt"/>
              </a:rPr>
              <a:t>SFT</a:t>
            </a:r>
            <a:r>
              <a:rPr lang="zh-CN" altLang="en-US" dirty="0">
                <a:ea typeface="+mn-lt"/>
                <a:cs typeface="+mn-lt"/>
              </a:rPr>
              <a:t>训练的两个</a:t>
            </a:r>
            <a:r>
              <a:rPr lang="en-US" altLang="zh-CN" dirty="0">
                <a:ea typeface="+mn-lt"/>
                <a:cs typeface="+mn-lt"/>
              </a:rPr>
              <a:t>Epoch</a:t>
            </a:r>
            <a:r>
              <a:rPr lang="zh-CN" altLang="en-US" dirty="0">
                <a:ea typeface="+mn-lt"/>
                <a:cs typeface="+mn-lt"/>
              </a:rPr>
              <a:t>分开，分别得到训练了</a:t>
            </a:r>
            <a:r>
              <a:rPr lang="en-US" altLang="zh-CN" dirty="0">
                <a:ea typeface="+mn-lt"/>
                <a:cs typeface="+mn-lt"/>
              </a:rPr>
              <a:t>1</a:t>
            </a:r>
            <a:r>
              <a:rPr lang="zh-CN" altLang="en-US" dirty="0">
                <a:ea typeface="+mn-lt"/>
                <a:cs typeface="+mn-lt"/>
              </a:rPr>
              <a:t>个和</a:t>
            </a:r>
            <a:r>
              <a:rPr lang="en-US" altLang="zh-CN" dirty="0">
                <a:ea typeface="+mn-lt"/>
                <a:cs typeface="+mn-lt"/>
              </a:rPr>
              <a:t>2</a:t>
            </a:r>
            <a:r>
              <a:rPr lang="zh-CN" altLang="en-US" dirty="0">
                <a:ea typeface="+mn-lt"/>
                <a:cs typeface="+mn-lt"/>
              </a:rPr>
              <a:t>个</a:t>
            </a:r>
            <a:r>
              <a:rPr lang="en-US" altLang="zh-CN" dirty="0">
                <a:ea typeface="+mn-lt"/>
                <a:cs typeface="+mn-lt"/>
              </a:rPr>
              <a:t>Epoch</a:t>
            </a:r>
            <a:r>
              <a:rPr lang="zh-CN" altLang="en-US" dirty="0">
                <a:ea typeface="+mn-lt"/>
                <a:cs typeface="+mn-lt"/>
              </a:rPr>
              <a:t>的结果；</a:t>
            </a:r>
            <a:endParaRPr lang="zh-CN" altLang="en-US" dirty="0">
              <a:ea typeface="+mn-lt"/>
              <a:cs typeface="+mn-lt"/>
            </a:endParaRPr>
          </a:p>
          <a:p>
            <a:pPr indent="0" fontAlgn="auto">
              <a:lnSpc>
                <a:spcPct val="150000"/>
              </a:lnSpc>
              <a:buFont typeface="Arial" panose="020B0604020202090204" pitchFamily="34" charset="0"/>
              <a:buNone/>
            </a:pPr>
            <a:r>
              <a:rPr lang="zh-CN" altLang="en-US" dirty="0">
                <a:ea typeface="+mn-lt"/>
                <a:cs typeface="+mn-lt"/>
              </a:rPr>
              <a:t>由于官方的</a:t>
            </a:r>
            <a:r>
              <a:rPr lang="en-US" altLang="zh-CN" dirty="0">
                <a:ea typeface="+mn-lt"/>
                <a:cs typeface="+mn-lt"/>
              </a:rPr>
              <a:t>LoRA</a:t>
            </a:r>
            <a:r>
              <a:rPr lang="zh-CN" altLang="en-US" dirty="0">
                <a:ea typeface="+mn-lt"/>
                <a:cs typeface="+mn-lt"/>
              </a:rPr>
              <a:t>训练脚本，没有开放支持设置</a:t>
            </a:r>
            <a:r>
              <a:rPr lang="en-US" altLang="zh-CN" dirty="0">
                <a:ea typeface="+mn-lt"/>
                <a:cs typeface="+mn-lt"/>
              </a:rPr>
              <a:t>LoRA Rank</a:t>
            </a:r>
            <a:r>
              <a:rPr lang="zh-CN" altLang="en-US" dirty="0">
                <a:ea typeface="+mn-lt"/>
                <a:cs typeface="+mn-lt"/>
              </a:rPr>
              <a:t>（秩）和</a:t>
            </a:r>
            <a:r>
              <a:rPr lang="en-US" altLang="zh-CN" dirty="0">
                <a:ea typeface="+mn-lt"/>
                <a:cs typeface="+mn-lt"/>
              </a:rPr>
              <a:t>LoRA Alpha</a:t>
            </a:r>
            <a:r>
              <a:rPr lang="zh-CN" altLang="en-US" dirty="0">
                <a:ea typeface="+mn-lt"/>
                <a:cs typeface="+mn-lt"/>
              </a:rPr>
              <a:t>（缩放系数）的参数，所以对</a:t>
            </a:r>
            <a:r>
              <a:rPr lang="en-US" altLang="zh-CN" dirty="0">
                <a:ea typeface="+mn-lt"/>
                <a:cs typeface="+mn-lt"/>
              </a:rPr>
              <a:t>trainer/train_lora.py</a:t>
            </a:r>
            <a:r>
              <a:rPr lang="zh-CN" altLang="en-US" dirty="0">
                <a:ea typeface="+mn-lt"/>
                <a:cs typeface="+mn-lt"/>
              </a:rPr>
              <a:t>和</a:t>
            </a:r>
            <a:r>
              <a:rPr lang="en-US" altLang="zh-CN" dirty="0">
                <a:ea typeface="+mn-lt"/>
                <a:cs typeface="+mn-lt"/>
              </a:rPr>
              <a:t>model/model_lora.py</a:t>
            </a:r>
            <a:r>
              <a:rPr lang="zh-CN" altLang="en-US" dirty="0">
                <a:ea typeface="+mn-lt"/>
                <a:cs typeface="+mn-lt"/>
              </a:rPr>
              <a:t>脚本略微修改，增加设置</a:t>
            </a:r>
            <a:r>
              <a:rPr lang="en-US" altLang="zh-CN" dirty="0">
                <a:ea typeface="+mn-lt"/>
                <a:cs typeface="+mn-lt"/>
              </a:rPr>
              <a:t>Rank</a:t>
            </a:r>
            <a:r>
              <a:rPr lang="zh-CN" altLang="en-US" dirty="0">
                <a:ea typeface="+mn-lt"/>
                <a:cs typeface="+mn-lt"/>
              </a:rPr>
              <a:t>和</a:t>
            </a:r>
            <a:r>
              <a:rPr lang="en-US" altLang="zh-CN" dirty="0">
                <a:ea typeface="+mn-lt"/>
                <a:cs typeface="+mn-lt"/>
              </a:rPr>
              <a:t>Alpha</a:t>
            </a:r>
            <a:r>
              <a:rPr lang="zh-CN" altLang="en-US" dirty="0">
                <a:ea typeface="+mn-lt"/>
                <a:cs typeface="+mn-lt"/>
              </a:rPr>
              <a:t>的参数；</a:t>
            </a:r>
            <a:endParaRPr lang="zh-CN" altLang="en-US" dirty="0">
              <a:ea typeface="+mn-lt"/>
              <a:cs typeface="+mn-lt"/>
            </a:endParaRPr>
          </a:p>
          <a:p>
            <a:pPr indent="0" fontAlgn="auto">
              <a:lnSpc>
                <a:spcPct val="150000"/>
              </a:lnSpc>
              <a:buFont typeface="Arial" panose="020B0604020202090204" pitchFamily="34" charset="0"/>
              <a:buNone/>
            </a:pPr>
            <a:r>
              <a:rPr lang="en-US" altLang="zh-CN" dirty="0">
                <a:ea typeface="+mn-lt"/>
                <a:cs typeface="+mn-lt"/>
              </a:rPr>
              <a:t>LoRA</a:t>
            </a:r>
            <a:r>
              <a:rPr lang="zh-CN" altLang="en-US" dirty="0">
                <a:ea typeface="+mn-lt"/>
                <a:cs typeface="+mn-lt"/>
              </a:rPr>
              <a:t>微调设置</a:t>
            </a:r>
            <a:r>
              <a:rPr lang="en-US" altLang="zh-CN" dirty="0">
                <a:ea typeface="+mn-lt"/>
                <a:cs typeface="+mn-lt"/>
              </a:rPr>
              <a:t>Rank</a:t>
            </a:r>
            <a:r>
              <a:rPr lang="zh-CN" altLang="en-US" dirty="0">
                <a:ea typeface="+mn-lt"/>
                <a:cs typeface="+mn-lt"/>
              </a:rPr>
              <a:t>为</a:t>
            </a:r>
            <a:r>
              <a:rPr lang="en-US" altLang="zh-CN" dirty="0">
                <a:ea typeface="+mn-lt"/>
                <a:cs typeface="+mn-lt"/>
              </a:rPr>
              <a:t>8</a:t>
            </a:r>
            <a:r>
              <a:rPr lang="zh-CN" altLang="en-US" dirty="0">
                <a:ea typeface="+mn-lt"/>
                <a:cs typeface="+mn-lt"/>
              </a:rPr>
              <a:t>，</a:t>
            </a:r>
            <a:r>
              <a:rPr lang="en-US" altLang="zh-CN" dirty="0">
                <a:ea typeface="+mn-lt"/>
                <a:cs typeface="+mn-lt"/>
              </a:rPr>
              <a:t>Alpha</a:t>
            </a:r>
            <a:r>
              <a:rPr lang="zh-CN" altLang="en-US" dirty="0">
                <a:ea typeface="+mn-lt"/>
                <a:cs typeface="+mn-lt"/>
              </a:rPr>
              <a:t>为</a:t>
            </a:r>
            <a:r>
              <a:rPr lang="en-US" altLang="zh-CN" dirty="0">
                <a:ea typeface="+mn-lt"/>
                <a:cs typeface="+mn-lt"/>
              </a:rPr>
              <a:t>16</a:t>
            </a:r>
            <a:r>
              <a:rPr lang="zh-CN" altLang="en-US" dirty="0">
                <a:ea typeface="+mn-lt"/>
                <a:cs typeface="+mn-lt"/>
              </a:rPr>
              <a:t>，为对比效果，</a:t>
            </a:r>
            <a:r>
              <a:rPr lang="en-US" altLang="zh-CN" dirty="0">
                <a:ea typeface="+mn-lt"/>
                <a:cs typeface="+mn-lt"/>
              </a:rPr>
              <a:t>LoRA</a:t>
            </a:r>
            <a:r>
              <a:rPr lang="zh-CN" altLang="en-US" dirty="0">
                <a:ea typeface="+mn-lt"/>
                <a:cs typeface="+mn-lt"/>
              </a:rPr>
              <a:t>微调分别训练了</a:t>
            </a:r>
            <a:r>
              <a:rPr lang="en-US" altLang="zh-CN" dirty="0">
                <a:ea typeface="+mn-lt"/>
                <a:cs typeface="+mn-lt"/>
              </a:rPr>
              <a:t>6</a:t>
            </a:r>
            <a:r>
              <a:rPr lang="zh-CN" altLang="en-US" dirty="0">
                <a:ea typeface="+mn-lt"/>
                <a:cs typeface="+mn-lt"/>
              </a:rPr>
              <a:t>个和</a:t>
            </a:r>
            <a:r>
              <a:rPr lang="en-US" altLang="zh-CN" dirty="0">
                <a:ea typeface="+mn-lt"/>
                <a:cs typeface="+mn-lt"/>
              </a:rPr>
              <a:t>10</a:t>
            </a:r>
            <a:r>
              <a:rPr lang="zh-CN" altLang="en-US" dirty="0">
                <a:ea typeface="+mn-lt"/>
                <a:cs typeface="+mn-lt"/>
              </a:rPr>
              <a:t>个</a:t>
            </a:r>
            <a:r>
              <a:rPr lang="en-US" altLang="zh-CN" dirty="0">
                <a:ea typeface="+mn-lt"/>
                <a:cs typeface="+mn-lt"/>
              </a:rPr>
              <a:t>Epoch</a:t>
            </a:r>
            <a:endParaRPr lang="en-US" altLang="zh-CN" dirty="0">
              <a:ea typeface="+mn-lt"/>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复刻</a:t>
            </a:r>
            <a:r>
              <a:rPr kumimoji="0" lang="en-US" altLang="zh-CN"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MiniMind</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训练过程——损失</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曲线</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80720" y="1392555"/>
            <a:ext cx="11294745" cy="1630045"/>
          </a:xfrm>
          <a:prstGeom prst="rect">
            <a:avLst/>
          </a:prstGeom>
          <a:noFill/>
        </p:spPr>
        <p:txBody>
          <a:bodyPr wrap="square">
            <a:spAutoFit/>
          </a:bodyPr>
          <a:lstStyle/>
          <a:p>
            <a:pPr marL="342900" indent="-342900">
              <a:buFont typeface="Arial" panose="020B0604020202090204" pitchFamily="34" charset="0"/>
              <a:buChar char="•"/>
            </a:pPr>
            <a:r>
              <a:rPr lang="zh-CN" altLang="en-US" sz="2000" dirty="0"/>
              <a:t>在预训练阶段，在</a:t>
            </a:r>
            <a:r>
              <a:rPr lang="en-US" altLang="zh-CN" sz="2000" dirty="0"/>
              <a:t>3</a:t>
            </a:r>
            <a:r>
              <a:rPr lang="zh-CN" altLang="en-US" sz="2000" dirty="0"/>
              <a:t>个</a:t>
            </a:r>
            <a:r>
              <a:rPr lang="en-US" altLang="zh-CN" sz="2000" dirty="0"/>
              <a:t>Epoch</a:t>
            </a:r>
            <a:r>
              <a:rPr lang="zh-CN" altLang="en-US" sz="2000" dirty="0"/>
              <a:t>的训练过程中，</a:t>
            </a:r>
            <a:r>
              <a:rPr lang="en-US" altLang="zh-CN" sz="2000" dirty="0"/>
              <a:t>Loss</a:t>
            </a:r>
            <a:r>
              <a:rPr lang="zh-CN" altLang="en-US" sz="2000" dirty="0"/>
              <a:t>值从初始的较高点迅速下降，随后进入平稳期，最终稳定在约</a:t>
            </a:r>
            <a:r>
              <a:rPr lang="en-US" altLang="zh-CN" sz="2000" dirty="0"/>
              <a:t>2.0</a:t>
            </a:r>
            <a:r>
              <a:rPr lang="zh-CN" altLang="en-US" sz="2000" dirty="0"/>
              <a:t>左右。这表明模型已初步掌握了通用语言的统计分布规律。</a:t>
            </a:r>
            <a:endParaRPr lang="zh-CN" altLang="en-US" sz="2000" dirty="0"/>
          </a:p>
          <a:p>
            <a:pPr marL="342900" indent="-342900">
              <a:buFont typeface="Arial" panose="020B0604020202090204" pitchFamily="34" charset="0"/>
              <a:buChar char="•"/>
            </a:pPr>
            <a:r>
              <a:rPr lang="zh-CN" altLang="en-US" sz="2000" dirty="0"/>
              <a:t>在</a:t>
            </a:r>
            <a:r>
              <a:rPr lang="en-US" altLang="zh-CN" sz="2000" dirty="0"/>
              <a:t>SFT </a:t>
            </a:r>
            <a:r>
              <a:rPr lang="zh-CN" altLang="en-US" sz="2000" dirty="0"/>
              <a:t>阶段：</a:t>
            </a:r>
            <a:r>
              <a:rPr lang="en-US" altLang="zh-CN" sz="2000" dirty="0"/>
              <a:t>Loss </a:t>
            </a:r>
            <a:r>
              <a:rPr lang="zh-CN" altLang="en-US" sz="2000" dirty="0"/>
              <a:t>曲线呈现出较强的波动性，但整体趋势向下，最终在</a:t>
            </a:r>
            <a:r>
              <a:rPr lang="en-US" altLang="zh-CN" sz="2000" dirty="0"/>
              <a:t> 1.6-1.7 </a:t>
            </a:r>
            <a:r>
              <a:rPr lang="zh-CN" altLang="en-US" sz="2000" dirty="0"/>
              <a:t>附近震荡。这种波动反映了指令微调阶段数据多样性对模型权重的剧烈调整，但均值下降说明模型正在学习如何遵循人类的指令和对话结构。</a:t>
            </a:r>
            <a:endParaRPr lang="zh-CN" altLang="en-US" sz="2000" dirty="0"/>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sp>
        <p:nvSpPr>
          <p:cNvPr id="7" name="文本框 6"/>
          <p:cNvSpPr txBox="1"/>
          <p:nvPr/>
        </p:nvSpPr>
        <p:spPr>
          <a:xfrm>
            <a:off x="1060450" y="3999230"/>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pic>
        <p:nvPicPr>
          <p:cNvPr id="4" name="图片 3"/>
          <p:cNvPicPr>
            <a:picLocks noChangeAspect="1"/>
          </p:cNvPicPr>
          <p:nvPr/>
        </p:nvPicPr>
        <p:blipFill>
          <a:blip r:embed="rId1"/>
          <a:stretch>
            <a:fillRect/>
          </a:stretch>
        </p:blipFill>
        <p:spPr>
          <a:xfrm>
            <a:off x="781050" y="3257550"/>
            <a:ext cx="10629900" cy="29718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复刻</a:t>
            </a:r>
            <a:r>
              <a:rPr kumimoji="0" lang="en-US" altLang="zh-CN"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MiniMind</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训练过程——与官方模型</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对比</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80720" y="1392555"/>
            <a:ext cx="11294745" cy="398780"/>
          </a:xfrm>
          <a:prstGeom prst="rect">
            <a:avLst/>
          </a:prstGeom>
          <a:noFill/>
        </p:spPr>
        <p:txBody>
          <a:bodyPr wrap="square">
            <a:spAutoFit/>
          </a:bodyPr>
          <a:lstStyle/>
          <a:p>
            <a:pPr indent="0">
              <a:buFont typeface="Arial" panose="020B0604020202090204" pitchFamily="34" charset="0"/>
              <a:buNone/>
            </a:pPr>
            <a:r>
              <a:rPr lang="zh-CN" altLang="en-US" sz="2000" dirty="0"/>
              <a:t>分别运行官方模型与自己</a:t>
            </a:r>
            <a:r>
              <a:rPr lang="en-US" altLang="zh-CN" sz="2000" dirty="0"/>
              <a:t>SFT</a:t>
            </a:r>
            <a:r>
              <a:rPr lang="zh-CN" altLang="en-US" sz="2000" dirty="0"/>
              <a:t>训练后的模型，使用脚本的自动测试，以下为部分测试</a:t>
            </a:r>
            <a:r>
              <a:rPr lang="zh-CN" altLang="en-US" sz="2000" dirty="0"/>
              <a:t>结果</a:t>
            </a:r>
            <a:endParaRPr lang="zh-CN" altLang="en-US" sz="2000" dirty="0"/>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graphicFrame>
        <p:nvGraphicFramePr>
          <p:cNvPr id="5" name="表格 4"/>
          <p:cNvGraphicFramePr/>
          <p:nvPr/>
        </p:nvGraphicFramePr>
        <p:xfrm>
          <a:off x="1104900" y="3477260"/>
          <a:ext cx="9296400" cy="1485900"/>
        </p:xfrm>
        <a:graphic>
          <a:graphicData uri="http://schemas.openxmlformats.org/drawingml/2006/table">
            <a:tbl>
              <a:tblPr firstRow="1">
                <a:tableStyleId>{5C22544A-7EE6-4342-B048-85BDC9FD1C3A}</a:tableStyleId>
              </a:tblPr>
              <a:tblGrid>
                <a:gridCol w="9296400"/>
              </a:tblGrid>
              <a:tr h="495300">
                <a:tc>
                  <a:txBody>
                    <a:bodyPr/>
                    <a:p>
                      <a:pPr fontAlgn="t"/>
                      <a:r>
                        <a:rPr lang="zh-CN" altLang="en-US" sz="1800"/>
                        <a:t>问：你有什么特长？</a:t>
                      </a:r>
                      <a:endParaRPr lang="zh-CN" altLang="en-US" sz="1800"/>
                    </a:p>
                  </a:txBody>
                  <a:tcPr marL="101917" marR="101917" marT="101917" marB="101917" anchor="t" anchorCtr="0"/>
                </a:tc>
              </a:tr>
              <a:tr h="495300">
                <a:tc>
                  <a:txBody>
                    <a:bodyPr/>
                    <a:p>
                      <a:pPr fontAlgn="t"/>
                      <a:r>
                        <a:rPr lang="zh-CN" altLang="en-US" sz="1800"/>
                        <a:t>官方模型：我是由</a:t>
                      </a:r>
                      <a:r>
                        <a:rPr lang="en-US" altLang="zh-CN" sz="1800"/>
                        <a:t>jingyaogong</a:t>
                      </a:r>
                      <a:r>
                        <a:rPr lang="zh-CN" altLang="en-US" sz="1800"/>
                        <a:t>创建的一个高效的小参数</a:t>
                      </a:r>
                      <a:r>
                        <a:rPr lang="en-US" altLang="zh-CN" sz="1800"/>
                        <a:t>AI</a:t>
                      </a:r>
                      <a:r>
                        <a:rPr lang="zh-CN" altLang="en-US" sz="1800"/>
                        <a:t>模型，专注于提供精准、快速的信息和帮助。我的设计目标是尽可能地接近人类的思考和交流，而不是追求快速和精准的交流。如果你有任何问题或需要协助，欢迎随时提问！</a:t>
                      </a:r>
                      <a:endParaRPr lang="zh-CN" altLang="en-US" sz="1800"/>
                    </a:p>
                  </a:txBody>
                  <a:tcPr marL="101917" marR="101917" marT="101917" marB="101917" anchor="t" anchorCtr="0"/>
                </a:tc>
              </a:tr>
              <a:tr h="495300">
                <a:tc>
                  <a:txBody>
                    <a:bodyPr/>
                    <a:p>
                      <a:pPr fontAlgn="t"/>
                      <a:r>
                        <a:rPr lang="zh-CN" altLang="en-US" sz="1800"/>
                        <a:t>实验模型：作为</a:t>
                      </a:r>
                      <a:r>
                        <a:rPr lang="en-US" altLang="zh-CN" sz="1800"/>
                        <a:t>AI</a:t>
                      </a:r>
                      <a:r>
                        <a:rPr lang="zh-CN" altLang="en-US" sz="1800"/>
                        <a:t>，我并没有主观的特长，但我可以理解人类的创造力、情感、哲学思考等人类特质。我擅长通过逻辑推理和问题解决来理解世界，能够快速响应并提供有用的信息，帮助用户解决问题。我还可以帮用户在特定的领域（如教育、生活建议等）发挥作用，促进知识的交流与理解。</a:t>
                      </a:r>
                      <a:endParaRPr lang="zh-CN" altLang="en-US" sz="1800"/>
                    </a:p>
                  </a:txBody>
                  <a:tcPr marL="101917" marR="101917" marT="101917" marB="101917" anchor="t" anchorCtr="0"/>
                </a:tc>
              </a:tr>
            </a:tbl>
          </a:graphicData>
        </a:graphic>
      </p:graphicFrame>
      <p:sp>
        <p:nvSpPr>
          <p:cNvPr id="9" name="文本框 8"/>
          <p:cNvSpPr txBox="1"/>
          <p:nvPr/>
        </p:nvSpPr>
        <p:spPr>
          <a:xfrm>
            <a:off x="680720" y="1792605"/>
            <a:ext cx="11294745" cy="1630045"/>
          </a:xfrm>
          <a:prstGeom prst="rect">
            <a:avLst/>
          </a:prstGeom>
          <a:noFill/>
        </p:spPr>
        <p:txBody>
          <a:bodyPr wrap="square">
            <a:spAutoFit/>
          </a:bodyPr>
          <a:lstStyle/>
          <a:p>
            <a:pPr indent="0">
              <a:buFont typeface="Arial" panose="020B0604020202090204" pitchFamily="34" charset="0"/>
              <a:buNone/>
            </a:pPr>
            <a:r>
              <a:rPr lang="zh-CN" altLang="en-US" sz="2000" b="1" dirty="0"/>
              <a:t>自我认知</a:t>
            </a:r>
            <a:endParaRPr lang="zh-CN" altLang="en-US" sz="2000" b="1" dirty="0"/>
          </a:p>
          <a:p>
            <a:pPr marL="342900" indent="-342900">
              <a:buFont typeface="Arial" panose="020B0604020202090204" pitchFamily="34" charset="0"/>
              <a:buChar char="•"/>
            </a:pPr>
            <a:r>
              <a:rPr lang="zh-CN" altLang="en-US" sz="2000" dirty="0"/>
              <a:t>官方模型因为经过了完整的训练（包括后续的</a:t>
            </a:r>
            <a:r>
              <a:rPr lang="en-US" altLang="zh-CN" sz="2000" dirty="0"/>
              <a:t>RL-HF</a:t>
            </a:r>
            <a:r>
              <a:rPr lang="zh-CN" altLang="en-US" sz="2000" dirty="0"/>
              <a:t>和</a:t>
            </a:r>
            <a:r>
              <a:rPr lang="en-US" altLang="zh-CN" sz="2000" dirty="0"/>
              <a:t>RL-AIF</a:t>
            </a:r>
            <a:r>
              <a:rPr lang="zh-CN" altLang="en-US" sz="2000" dirty="0"/>
              <a:t>训练），明确识别自己为</a:t>
            </a:r>
            <a:r>
              <a:rPr lang="en-US" altLang="zh-CN" sz="2000" dirty="0"/>
              <a:t>jingyaogong</a:t>
            </a:r>
            <a:r>
              <a:rPr lang="zh-CN" altLang="en-US" sz="2000" dirty="0"/>
              <a:t>创建的</a:t>
            </a:r>
            <a:r>
              <a:rPr lang="en-US" altLang="zh-CN" sz="2000" dirty="0"/>
              <a:t>MiniMind</a:t>
            </a:r>
            <a:r>
              <a:rPr lang="zh-CN" altLang="en-US" sz="2000" dirty="0"/>
              <a:t>模型，定位清晰；</a:t>
            </a:r>
            <a:endParaRPr lang="zh-CN" altLang="en-US" sz="2000" dirty="0"/>
          </a:p>
          <a:p>
            <a:pPr marL="342900" indent="-342900">
              <a:buFont typeface="Arial" panose="020B0604020202090204" pitchFamily="34" charset="0"/>
              <a:buChar char="•"/>
            </a:pPr>
            <a:r>
              <a:rPr lang="zh-CN" altLang="en-US" sz="2000" dirty="0"/>
              <a:t>实验模型虽然未给出具体的开发者身份，但表现出了较好的角色对齐能力，能够以</a:t>
            </a:r>
            <a:r>
              <a:rPr lang="en-US" altLang="zh-CN" sz="2000" dirty="0"/>
              <a:t>“AI</a:t>
            </a:r>
            <a:r>
              <a:rPr lang="zh-CN" altLang="en-US" sz="2000" dirty="0"/>
              <a:t>助手</a:t>
            </a:r>
            <a:r>
              <a:rPr lang="en-US" altLang="zh-CN" sz="2000" dirty="0"/>
              <a:t>”</a:t>
            </a:r>
            <a:r>
              <a:rPr lang="zh-CN" altLang="en-US" sz="2000" dirty="0"/>
              <a:t>的身份进行逻辑严密的自我描述，语调平稳且具备一定的哲学思考深度。</a:t>
            </a:r>
            <a:endParaRPr lang="zh-CN" alt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复刻</a:t>
            </a:r>
            <a:r>
              <a:rPr kumimoji="0" lang="en-US" altLang="zh-CN"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MiniMind</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训练过程——与官方模型</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对比</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graphicFrame>
        <p:nvGraphicFramePr>
          <p:cNvPr id="5" name="表格 4"/>
          <p:cNvGraphicFramePr/>
          <p:nvPr>
            <p:custDataLst>
              <p:tags r:id="rId1"/>
            </p:custDataLst>
          </p:nvPr>
        </p:nvGraphicFramePr>
        <p:xfrm>
          <a:off x="1104900" y="2848610"/>
          <a:ext cx="9296400" cy="3444240"/>
        </p:xfrm>
        <a:graphic>
          <a:graphicData uri="http://schemas.openxmlformats.org/drawingml/2006/table">
            <a:tbl>
              <a:tblPr firstRow="1">
                <a:tableStyleId>{5C22544A-7EE6-4342-B048-85BDC9FD1C3A}</a:tableStyleId>
              </a:tblPr>
              <a:tblGrid>
                <a:gridCol w="9296400"/>
              </a:tblGrid>
              <a:tr h="477520">
                <a:tc>
                  <a:txBody>
                    <a:bodyPr/>
                    <a:p>
                      <a:pPr fontAlgn="t"/>
                      <a:r>
                        <a:rPr lang="zh-CN" altLang="en-US" sz="1800" b="1"/>
                        <a:t>问：</a:t>
                      </a:r>
                      <a:r>
                        <a:rPr lang="zh-CN" altLang="en-US" sz="1800"/>
                        <a:t>为什么天空是蓝色的</a:t>
                      </a:r>
                      <a:endParaRPr lang="zh-CN" altLang="en-US" sz="1800"/>
                    </a:p>
                  </a:txBody>
                  <a:tcPr marL="101917" marR="101917" marT="101917" marB="101917" anchor="t" anchorCtr="0"/>
                </a:tc>
              </a:tr>
              <a:tr h="843280">
                <a:tc>
                  <a:txBody>
                    <a:bodyPr/>
                    <a:p>
                      <a:pPr fontAlgn="t"/>
                      <a:r>
                        <a:rPr lang="zh-CN" altLang="en-US" sz="1400" b="1"/>
                        <a:t>官方模型：</a:t>
                      </a:r>
                      <a:r>
                        <a:rPr lang="zh-CN" altLang="en-US" sz="1400"/>
                        <a:t>人类天空呈现出蓝色是因为地球自转导致的。这是因为地球自转对太阳光线的散射作用。太阳光线在通过地球大气层时，由于地球自转，会在大气和海洋上产生红色、橙色、黄色甚至橙色的光线。当太阳光照射到地球表面时，会发生散射。因此，地球上的光线在大气中传播后会发生折射和反射，从而导致我们看到的天空呈现出蓝色。</a:t>
                      </a:r>
                      <a:endParaRPr lang="zh-CN" altLang="en-US" sz="1400"/>
                    </a:p>
                  </a:txBody>
                  <a:tcPr marL="101917" marR="101917" marT="101917" marB="101917" anchor="t" anchorCtr="0"/>
                </a:tc>
              </a:tr>
              <a:tr h="2123440">
                <a:tc>
                  <a:txBody>
                    <a:bodyPr/>
                    <a:p>
                      <a:pPr fontAlgn="t"/>
                      <a:r>
                        <a:rPr lang="zh-CN" altLang="en-US" sz="1400" b="1"/>
                        <a:t>实验模型：</a:t>
                      </a:r>
                      <a:r>
                        <a:rPr lang="zh-CN" altLang="en-US" sz="1400"/>
                        <a:t>天空是蓝色的原因是因为它包含了蓝色的成分，如橙色、黄色、绿色和红色。这些颜色是由不同波长的光（蓝光）混合而成的，因此看起来像是蓝色的。</a:t>
                      </a:r>
                      <a:endParaRPr lang="zh-CN" altLang="en-US" sz="1400"/>
                    </a:p>
                    <a:p>
                      <a:pPr fontAlgn="t"/>
                      <a:r>
                        <a:rPr lang="zh-CN" altLang="en-US" sz="1400"/>
                        <a:t>在白天，当太阳光穿过大气层时，蓝光被散射，这使得天空看起来是蓝色的。当太阳到达地面时，光的频率决定了我们看到的颜色。这种现象被称为瑞利散射，因为不同颜色的光波长不同，我们看到的颜色就不同。</a:t>
                      </a:r>
                      <a:endParaRPr lang="zh-CN" altLang="en-US" sz="1400"/>
                    </a:p>
                    <a:p>
                      <a:pPr fontAlgn="t"/>
                      <a:r>
                        <a:rPr lang="zh-CN" altLang="en-US" sz="1400"/>
                        <a:t>当太阳光射向地面时，光线会被大气层中的气体分子（如空气）散射，从而形成一个蓝色的区域。在阳光照射到大气层时，蓝光的部分被散射到我们的眼睛。由于蓝光波长较短，更容易散射，所以我们看到的天空是蓝色的。</a:t>
                      </a:r>
                      <a:endParaRPr lang="zh-CN" altLang="en-US" sz="1400"/>
                    </a:p>
                    <a:p>
                      <a:pPr fontAlgn="t"/>
                      <a:r>
                        <a:rPr lang="zh-CN" altLang="en-US" sz="1400"/>
                        <a:t>另外，当太阳光射向地面时，蓝光的强度决定了我们看到的颜色。在日落或日出时，由于太阳光的强度较高，蓝光更容易散射。在日落或日出时，太阳光被更长的区域散射，这使得我们看到的天空是蓝色的。</a:t>
                      </a:r>
                      <a:endParaRPr lang="zh-CN" altLang="en-US" sz="1400"/>
                    </a:p>
                    <a:p>
                      <a:pPr fontAlgn="t"/>
                      <a:r>
                        <a:rPr lang="zh-CN" altLang="en-US" sz="1400"/>
                        <a:t>总之，天空看起来蓝色是由于大气折射、太阳光的散射和太阳光在地面散射、反射和散射等多种原因共同作用的结果。</a:t>
                      </a:r>
                      <a:endParaRPr lang="zh-CN" altLang="en-US" sz="1400"/>
                    </a:p>
                  </a:txBody>
                  <a:tcPr marL="101917" marR="101917" marT="101917" marB="101917" anchor="t" anchorCtr="0"/>
                </a:tc>
              </a:tr>
            </a:tbl>
          </a:graphicData>
        </a:graphic>
      </p:graphicFrame>
      <p:sp>
        <p:nvSpPr>
          <p:cNvPr id="9" name="文本框 8"/>
          <p:cNvSpPr txBox="1"/>
          <p:nvPr/>
        </p:nvSpPr>
        <p:spPr>
          <a:xfrm>
            <a:off x="680720" y="1403985"/>
            <a:ext cx="11294745" cy="1506855"/>
          </a:xfrm>
          <a:prstGeom prst="rect">
            <a:avLst/>
          </a:prstGeom>
          <a:noFill/>
        </p:spPr>
        <p:txBody>
          <a:bodyPr wrap="square">
            <a:spAutoFit/>
          </a:bodyPr>
          <a:lstStyle/>
          <a:p>
            <a:pPr indent="0">
              <a:buFont typeface="Arial" panose="020B0604020202090204" pitchFamily="34" charset="0"/>
              <a:buNone/>
            </a:pPr>
            <a:r>
              <a:rPr lang="zh-CN" altLang="en-US" sz="2000" b="1" dirty="0"/>
              <a:t>百科</a:t>
            </a:r>
            <a:r>
              <a:rPr lang="zh-CN" altLang="en-US" sz="2000" b="1" dirty="0"/>
              <a:t>知识</a:t>
            </a:r>
            <a:endParaRPr lang="zh-CN" altLang="en-US" sz="2000" b="1" dirty="0"/>
          </a:p>
          <a:p>
            <a:pPr marL="342900" indent="-342900">
              <a:buFont typeface="Arial" panose="020B0604020202090204" pitchFamily="34" charset="0"/>
              <a:buChar char="•"/>
            </a:pPr>
            <a:r>
              <a:rPr lang="zh-CN" altLang="en-US" dirty="0"/>
              <a:t>官方模型很可能在后续的训练中出现了遗忘，回答中出现了严重的逻辑错误，将天空变蓝归结为</a:t>
            </a:r>
            <a:r>
              <a:rPr lang="en-US" altLang="zh-CN" dirty="0"/>
              <a:t>“</a:t>
            </a:r>
            <a:r>
              <a:rPr lang="zh-CN" altLang="en-US" dirty="0"/>
              <a:t>地球自转</a:t>
            </a:r>
            <a:r>
              <a:rPr lang="en-US" altLang="zh-CN" dirty="0"/>
              <a:t>”</a:t>
            </a:r>
            <a:r>
              <a:rPr lang="zh-CN" altLang="en-US" dirty="0"/>
              <a:t>，这属于典型的</a:t>
            </a:r>
            <a:r>
              <a:rPr lang="en-US" altLang="zh-CN" dirty="0"/>
              <a:t>AI</a:t>
            </a:r>
            <a:r>
              <a:rPr lang="zh-CN" altLang="en-US" dirty="0"/>
              <a:t>幻觉；</a:t>
            </a:r>
            <a:endParaRPr lang="zh-CN" altLang="en-US" dirty="0"/>
          </a:p>
          <a:p>
            <a:pPr marL="342900" indent="-342900">
              <a:buFont typeface="Arial" panose="020B0604020202090204" pitchFamily="34" charset="0"/>
              <a:buChar char="•"/>
            </a:pPr>
            <a:r>
              <a:rPr lang="zh-CN" altLang="en-US" dirty="0"/>
              <a:t>实验模型表现显著优于官方模型。它准确提到了</a:t>
            </a:r>
            <a:r>
              <a:rPr lang="en-US" altLang="zh-CN" dirty="0"/>
              <a:t>“</a:t>
            </a:r>
            <a:r>
              <a:rPr lang="zh-CN" altLang="en-US" dirty="0"/>
              <a:t>瑞利散射</a:t>
            </a:r>
            <a:r>
              <a:rPr lang="en-US" altLang="zh-CN" dirty="0"/>
              <a:t>”</a:t>
            </a:r>
            <a:r>
              <a:rPr lang="zh-CN" altLang="en-US" dirty="0"/>
              <a:t>（</a:t>
            </a:r>
            <a:r>
              <a:rPr lang="en-US" altLang="zh-CN" dirty="0"/>
              <a:t>Rayleigh Scattering</a:t>
            </a:r>
            <a:r>
              <a:rPr lang="zh-CN" altLang="en-US" dirty="0"/>
              <a:t>）这一核心物理概念，并解释了蓝光波长较短、更容易被大气分子散射的原理。尽管在部分叙述上存在重复，但知识的准确性更高。</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复刻</a:t>
            </a:r>
            <a:r>
              <a:rPr kumimoji="0" lang="en-US" altLang="zh-CN"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MiniMind</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训练过程——与官方模型</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对比</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sp>
        <p:nvSpPr>
          <p:cNvPr id="9" name="文本框 8"/>
          <p:cNvSpPr txBox="1"/>
          <p:nvPr/>
        </p:nvSpPr>
        <p:spPr>
          <a:xfrm>
            <a:off x="680720" y="1403985"/>
            <a:ext cx="11294745" cy="2061210"/>
          </a:xfrm>
          <a:prstGeom prst="rect">
            <a:avLst/>
          </a:prstGeom>
          <a:noFill/>
        </p:spPr>
        <p:txBody>
          <a:bodyPr wrap="square">
            <a:spAutoFit/>
          </a:bodyPr>
          <a:lstStyle/>
          <a:p>
            <a:pPr indent="0">
              <a:buFont typeface="Arial" panose="020B0604020202090204" pitchFamily="34" charset="0"/>
              <a:buNone/>
            </a:pPr>
            <a:r>
              <a:rPr lang="zh-CN" altLang="en-US" sz="2000" b="1" dirty="0"/>
              <a:t>代码</a:t>
            </a:r>
            <a:r>
              <a:rPr lang="zh-CN" altLang="en-US" sz="2000" b="1" dirty="0"/>
              <a:t>能力</a:t>
            </a:r>
            <a:endParaRPr lang="zh-CN" altLang="en-US" sz="2000" b="1" dirty="0"/>
          </a:p>
          <a:p>
            <a:pPr marL="342900" indent="-342900">
              <a:buFont typeface="Arial" panose="020B0604020202090204" pitchFamily="34" charset="0"/>
              <a:buChar char="•"/>
            </a:pPr>
            <a:r>
              <a:rPr lang="zh-CN" altLang="en-US" b="1" dirty="0"/>
              <a:t>官方模型</a:t>
            </a:r>
            <a:r>
              <a:rPr lang="zh-CN" altLang="en-US" dirty="0"/>
              <a:t>代码（</a:t>
            </a:r>
            <a:r>
              <a:rPr lang="zh-CN" altLang="en-US" dirty="0"/>
              <a:t>左）的迭代核心逻辑（</a:t>
            </a:r>
            <a:r>
              <a:rPr lang="en-US" altLang="zh-CN" dirty="0"/>
              <a:t>a, b = b, a + b</a:t>
            </a:r>
            <a:r>
              <a:rPr lang="zh-CN" altLang="en-US" dirty="0"/>
              <a:t>）实现正确，运算效率较高。但依然存在变量命名误导（将单个数命名为</a:t>
            </a:r>
            <a:r>
              <a:rPr lang="en-US" altLang="zh-CN" dirty="0"/>
              <a:t> fib_sequence</a:t>
            </a:r>
            <a:r>
              <a:rPr lang="zh-CN" altLang="en-US" dirty="0"/>
              <a:t>）以及打印格式字符串拼接错误的问题。</a:t>
            </a:r>
            <a:endParaRPr lang="zh-CN" altLang="en-US" dirty="0"/>
          </a:p>
          <a:p>
            <a:pPr marL="342900" indent="-342900">
              <a:buFont typeface="Arial" panose="020B0604020202090204" pitchFamily="34" charset="0"/>
              <a:buChar char="•"/>
            </a:pPr>
            <a:r>
              <a:rPr lang="zh-CN" altLang="en-US" b="1" dirty="0"/>
              <a:t>实验模型</a:t>
            </a:r>
            <a:r>
              <a:rPr lang="zh-CN" altLang="en-US" dirty="0"/>
              <a:t>虽然给出了基于迭代的实现框架（</a:t>
            </a:r>
            <a:r>
              <a:rPr lang="zh-CN" altLang="en-US" dirty="0"/>
              <a:t>右），但代码存在严重的基础性硬伤。其一，在</a:t>
            </a:r>
            <a:r>
              <a:rPr lang="en-US" altLang="zh-CN" dirty="0"/>
              <a:t>n=1</a:t>
            </a:r>
            <a:r>
              <a:rPr lang="zh-CN" altLang="en-US" dirty="0"/>
              <a:t>时返回整数，而其他情况返回列表，导致返回类型不一致；其二，</a:t>
            </a:r>
            <a:r>
              <a:rPr lang="zh-CN" altLang="en-US" dirty="0"/>
              <a:t>示例中的</a:t>
            </a:r>
            <a:r>
              <a:rPr lang="en-US" altLang="zh-CN" dirty="0"/>
              <a:t>print</a:t>
            </a:r>
            <a:r>
              <a:rPr lang="zh-CN" altLang="en-US" dirty="0"/>
              <a:t>语句引用了未定义的变量，代码完全不可执行。此外，模型在自然语言解释中将自身的</a:t>
            </a:r>
            <a:r>
              <a:rPr lang="en-US" altLang="zh-CN" dirty="0"/>
              <a:t>“</a:t>
            </a:r>
            <a:r>
              <a:rPr lang="zh-CN" altLang="en-US" dirty="0"/>
              <a:t>循环</a:t>
            </a:r>
            <a:r>
              <a:rPr lang="en-US" altLang="zh-CN" dirty="0"/>
              <a:t>”</a:t>
            </a:r>
            <a:r>
              <a:rPr lang="zh-CN" altLang="en-US" dirty="0"/>
              <a:t>实现错误地描述为</a:t>
            </a:r>
            <a:r>
              <a:rPr lang="en-US" altLang="zh-CN" dirty="0"/>
              <a:t>“</a:t>
            </a:r>
            <a:r>
              <a:rPr lang="zh-CN" altLang="en-US" dirty="0"/>
              <a:t>递归</a:t>
            </a:r>
            <a:r>
              <a:rPr lang="en-US" altLang="zh-CN" dirty="0"/>
              <a:t>”</a:t>
            </a:r>
            <a:r>
              <a:rPr lang="zh-CN" altLang="en-US" dirty="0"/>
              <a:t>，暴露出代码逻辑与自然语言认知脱节的问题。</a:t>
            </a:r>
            <a:endParaRPr lang="zh-CN" altLang="en-US" dirty="0"/>
          </a:p>
        </p:txBody>
      </p:sp>
      <p:pic>
        <p:nvPicPr>
          <p:cNvPr id="8" name="图片 7"/>
          <p:cNvPicPr>
            <a:picLocks noChangeAspect="1"/>
          </p:cNvPicPr>
          <p:nvPr/>
        </p:nvPicPr>
        <p:blipFill>
          <a:blip r:embed="rId1"/>
          <a:srcRect t="9792" b="6804"/>
          <a:stretch>
            <a:fillRect/>
          </a:stretch>
        </p:blipFill>
        <p:spPr>
          <a:xfrm>
            <a:off x="0" y="3728085"/>
            <a:ext cx="6096000" cy="3136900"/>
          </a:xfrm>
          <a:prstGeom prst="rect">
            <a:avLst/>
          </a:prstGeom>
        </p:spPr>
      </p:pic>
      <p:pic>
        <p:nvPicPr>
          <p:cNvPr id="10" name="图片 9"/>
          <p:cNvPicPr>
            <a:picLocks noChangeAspect="1"/>
          </p:cNvPicPr>
          <p:nvPr/>
        </p:nvPicPr>
        <p:blipFill>
          <a:blip r:embed="rId2"/>
          <a:srcRect t="9379" b="6835"/>
          <a:stretch>
            <a:fillRect/>
          </a:stretch>
        </p:blipFill>
        <p:spPr>
          <a:xfrm>
            <a:off x="5466715" y="3728085"/>
            <a:ext cx="6725285" cy="3136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手册</a:t>
            </a:r>
            <a:r>
              <a:rPr kumimoji="0" lang="en-US" altLang="zh-CN"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LoRA</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微调结果分析——损失</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曲线</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sp>
        <p:nvSpPr>
          <p:cNvPr id="9" name="文本框 8"/>
          <p:cNvSpPr txBox="1"/>
          <p:nvPr/>
        </p:nvSpPr>
        <p:spPr>
          <a:xfrm>
            <a:off x="680720" y="1403985"/>
            <a:ext cx="11294745" cy="1753235"/>
          </a:xfrm>
          <a:prstGeom prst="rect">
            <a:avLst/>
          </a:prstGeom>
          <a:noFill/>
        </p:spPr>
        <p:txBody>
          <a:bodyPr wrap="square">
            <a:spAutoFit/>
          </a:bodyPr>
          <a:lstStyle/>
          <a:p>
            <a:pPr indent="0" fontAlgn="auto">
              <a:lnSpc>
                <a:spcPct val="200000"/>
              </a:lnSpc>
              <a:buFont typeface="Arial" panose="020B0604020202090204" pitchFamily="34" charset="0"/>
              <a:buNone/>
            </a:pPr>
            <a:r>
              <a:rPr lang="zh-CN" altLang="en-US" dirty="0"/>
              <a:t>在</a:t>
            </a:r>
            <a:r>
              <a:rPr lang="en-US" altLang="zh-CN" dirty="0"/>
              <a:t>Epoch=6</a:t>
            </a:r>
            <a:r>
              <a:rPr lang="zh-CN" altLang="en-US" dirty="0"/>
              <a:t>的训练中，</a:t>
            </a:r>
            <a:r>
              <a:rPr lang="en-US" altLang="zh-CN" dirty="0"/>
              <a:t>Loss </a:t>
            </a:r>
            <a:r>
              <a:rPr lang="zh-CN" altLang="en-US" dirty="0"/>
              <a:t>值从起始的约</a:t>
            </a:r>
            <a:r>
              <a:rPr lang="en-US" altLang="zh-CN" dirty="0"/>
              <a:t>3.3</a:t>
            </a:r>
            <a:r>
              <a:rPr lang="zh-CN" altLang="en-US" dirty="0"/>
              <a:t>快速震荡下降，最终趋于</a:t>
            </a:r>
            <a:r>
              <a:rPr lang="en-US" altLang="zh-CN" dirty="0"/>
              <a:t>2.4</a:t>
            </a:r>
            <a:r>
              <a:rPr lang="zh-CN" altLang="en-US" dirty="0"/>
              <a:t>附近。而在追加训练至</a:t>
            </a:r>
            <a:r>
              <a:rPr lang="en-US" altLang="zh-CN" dirty="0"/>
              <a:t> Epoch=10 </a:t>
            </a:r>
            <a:r>
              <a:rPr lang="zh-CN" altLang="en-US" dirty="0"/>
              <a:t>后，</a:t>
            </a:r>
            <a:r>
              <a:rPr lang="en-US" altLang="zh-CN" dirty="0"/>
              <a:t>Loss </a:t>
            </a:r>
            <a:r>
              <a:rPr lang="zh-CN" altLang="en-US" dirty="0"/>
              <a:t>曲线进一步下行并稳定。</a:t>
            </a:r>
            <a:r>
              <a:rPr lang="en-US" altLang="zh-CN" dirty="0"/>
              <a:t>LoRA </a:t>
            </a:r>
            <a:r>
              <a:rPr lang="zh-CN" altLang="en-US" dirty="0"/>
              <a:t>微调的</a:t>
            </a:r>
            <a:r>
              <a:rPr lang="en-US" altLang="zh-CN" dirty="0"/>
              <a:t> Loss </a:t>
            </a:r>
            <a:r>
              <a:rPr lang="zh-CN" altLang="en-US" dirty="0"/>
              <a:t>波动幅度明显大于预训练阶段，这反映了由于研究生手册数据量较小且知识密度极高，模型在有限的参数更新空间（</a:t>
            </a:r>
            <a:r>
              <a:rPr lang="en-US" altLang="zh-CN" dirty="0"/>
              <a:t>Rank=8</a:t>
            </a:r>
            <a:r>
              <a:rPr lang="zh-CN" altLang="en-US" dirty="0"/>
              <a:t>）内努力进行知识拟合的过程。</a:t>
            </a:r>
            <a:endParaRPr lang="zh-CN" altLang="en-US" dirty="0"/>
          </a:p>
        </p:txBody>
      </p:sp>
      <p:pic>
        <p:nvPicPr>
          <p:cNvPr id="4" name="图片 3"/>
          <p:cNvPicPr>
            <a:picLocks noChangeAspect="1"/>
          </p:cNvPicPr>
          <p:nvPr/>
        </p:nvPicPr>
        <p:blipFill>
          <a:blip r:embed="rId1"/>
          <a:stretch>
            <a:fillRect/>
          </a:stretch>
        </p:blipFill>
        <p:spPr>
          <a:xfrm>
            <a:off x="825500" y="3472815"/>
            <a:ext cx="10541000" cy="28448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algn="l" defTabSz="914400" fontAlgn="auto">
              <a:lnSpc>
                <a:spcPct val="100000"/>
              </a:lnSpc>
              <a:spcBef>
                <a:spcPts val="0"/>
              </a:spcBef>
              <a:spcAft>
                <a:spcPts val="0"/>
              </a:spcAft>
              <a:buClrTx/>
              <a:buSzTx/>
              <a:buFontTx/>
              <a:buNone/>
              <a:defRPr/>
            </a:pP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手册</a:t>
            </a:r>
            <a:r>
              <a:rPr lang="en-US" altLang="zh-CN"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LoRA</a:t>
            </a: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微调结果分析</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——手册问题</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对比</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80720" y="1392555"/>
            <a:ext cx="11294745" cy="398780"/>
          </a:xfrm>
          <a:prstGeom prst="rect">
            <a:avLst/>
          </a:prstGeom>
          <a:noFill/>
        </p:spPr>
        <p:txBody>
          <a:bodyPr wrap="square">
            <a:spAutoFit/>
          </a:bodyPr>
          <a:lstStyle/>
          <a:p>
            <a:pPr indent="0">
              <a:buFont typeface="Arial" panose="020B0604020202090204" pitchFamily="34" charset="0"/>
              <a:buNone/>
            </a:pPr>
            <a:r>
              <a:rPr lang="zh-CN" altLang="en-US" sz="2000" dirty="0"/>
              <a:t>分别运行</a:t>
            </a:r>
            <a:r>
              <a:rPr lang="en-US" altLang="zh-CN" sz="2000" dirty="0"/>
              <a:t>SFT</a:t>
            </a:r>
            <a:r>
              <a:rPr lang="zh-CN" altLang="en-US" sz="2000" dirty="0"/>
              <a:t>训练后的模型和挂载</a:t>
            </a:r>
            <a:r>
              <a:rPr lang="en-US" altLang="zh-CN" sz="2000" dirty="0"/>
              <a:t>LoRA</a:t>
            </a:r>
            <a:r>
              <a:rPr lang="zh-CN" altLang="en-US" sz="2000" dirty="0"/>
              <a:t>的模型，部分测试结果</a:t>
            </a:r>
            <a:r>
              <a:rPr lang="zh-CN" altLang="en-US" sz="2000" dirty="0"/>
              <a:t>如下</a:t>
            </a:r>
            <a:endParaRPr lang="zh-CN" altLang="en-US" sz="2000" dirty="0"/>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graphicFrame>
        <p:nvGraphicFramePr>
          <p:cNvPr id="5" name="表格 4"/>
          <p:cNvGraphicFramePr/>
          <p:nvPr/>
        </p:nvGraphicFramePr>
        <p:xfrm>
          <a:off x="576580" y="2459990"/>
          <a:ext cx="11303635" cy="3360420"/>
        </p:xfrm>
        <a:graphic>
          <a:graphicData uri="http://schemas.openxmlformats.org/drawingml/2006/table">
            <a:tbl>
              <a:tblPr firstRow="1">
                <a:tableStyleId>{5C22544A-7EE6-4342-B048-85BDC9FD1C3A}</a:tableStyleId>
              </a:tblPr>
              <a:tblGrid>
                <a:gridCol w="11303635"/>
              </a:tblGrid>
              <a:tr h="495300">
                <a:tc>
                  <a:txBody>
                    <a:bodyPr/>
                    <a:p>
                      <a:pPr fontAlgn="t"/>
                      <a:r>
                        <a:rPr lang="zh-CN" altLang="en-US" sz="1800"/>
                        <a:t>问：老师您好，我有一门公共课的成绩感觉可能登错了，想申请复查，请问最晚要在什么时候提交申请？具体流程是怎样的？</a:t>
                      </a:r>
                      <a:endParaRPr lang="zh-CN" altLang="en-US" sz="1800"/>
                    </a:p>
                  </a:txBody>
                  <a:tcPr marL="101917" marR="101917" marT="101917" marB="101917" anchor="t" anchorCtr="0"/>
                </a:tc>
              </a:tr>
              <a:tr h="495300">
                <a:tc>
                  <a:txBody>
                    <a:bodyPr/>
                    <a:p>
                      <a:pPr fontAlgn="t"/>
                      <a:r>
                        <a:rPr lang="zh-CN" altLang="en-US" sz="1400" b="1"/>
                        <a:t>无</a:t>
                      </a:r>
                      <a:r>
                        <a:rPr lang="en-US" altLang="zh-CN" sz="1400" b="1"/>
                        <a:t>LoRA</a:t>
                      </a:r>
                      <a:r>
                        <a:rPr lang="zh-CN" altLang="en-US" sz="1400" b="1"/>
                        <a:t>模型</a:t>
                      </a:r>
                      <a:r>
                        <a:rPr lang="zh-CN" altLang="en-US" sz="1400"/>
                        <a:t>：申请复查考试通常在考试开始时进行，如果考生未能按时提交，可以采取以下几种策略：</a:t>
                      </a:r>
                      <a:endParaRPr lang="zh-CN" altLang="en-US" sz="1400"/>
                    </a:p>
                    <a:p>
                      <a:pPr fontAlgn="t"/>
                      <a:r>
                        <a:rPr lang="en-US" altLang="zh-CN" sz="1400"/>
                        <a:t>1. </a:t>
                      </a:r>
                      <a:r>
                        <a:rPr lang="zh-CN" altLang="en-US" sz="1400"/>
                        <a:t>提前准备：提前做好准备是申请复查的关键。这包括查看考试大纲、准备简历、准备面试题的复习方法、了解考试时间要求、准备常见题型等。提前规划时间，确保在规定时间内完成考试。</a:t>
                      </a:r>
                      <a:endParaRPr lang="zh-CN" altLang="en-US" sz="1400"/>
                    </a:p>
                    <a:p>
                      <a:pPr fontAlgn="t"/>
                      <a:r>
                        <a:rPr lang="zh-CN" altLang="en-US" sz="1400"/>
                        <a:t>……</a:t>
                      </a:r>
                      <a:endParaRPr lang="zh-CN" altLang="en-US" sz="1400"/>
                    </a:p>
                    <a:p>
                      <a:pPr fontAlgn="t"/>
                      <a:r>
                        <a:rPr lang="en-US" altLang="zh-CN" sz="1400"/>
                        <a:t>8. </a:t>
                      </a:r>
                      <a:r>
                        <a:rPr lang="zh-CN" altLang="en-US" sz="1400"/>
                        <a:t>寻求帮助：如果可能，可以寻求同学、老师或辅导员的帮助，或者参加一些辅导课程，这些都有助于提高复查的效率和准确性。</a:t>
                      </a:r>
                      <a:endParaRPr lang="zh-CN" altLang="en-US" sz="1400"/>
                    </a:p>
                    <a:p>
                      <a:pPr fontAlgn="t"/>
                      <a:r>
                        <a:rPr lang="zh-CN" altLang="en-US" sz="1400"/>
                        <a:t>通过上述策略，即使考试失败，学生仍然可以利用考试的机会。</a:t>
                      </a:r>
                      <a:endParaRPr lang="zh-CN" altLang="en-US" sz="1400"/>
                    </a:p>
                  </a:txBody>
                  <a:tcPr marL="101917" marR="101917" marT="101917" marB="101917" anchor="t" anchorCtr="0"/>
                </a:tc>
              </a:tr>
              <a:tr h="495300">
                <a:tc>
                  <a:txBody>
                    <a:bodyPr/>
                    <a:p>
                      <a:pPr fontAlgn="t"/>
                      <a:r>
                        <a:rPr lang="en-US" altLang="zh-CN" sz="1400" b="1"/>
                        <a:t>EP=6</a:t>
                      </a:r>
                      <a:r>
                        <a:rPr lang="zh-CN" altLang="en-US" sz="1400" b="1"/>
                        <a:t>的</a:t>
                      </a:r>
                      <a:r>
                        <a:rPr lang="en-US" altLang="zh-CN" sz="1400" b="1"/>
                        <a:t>LoRA</a:t>
                      </a:r>
                      <a:r>
                        <a:rPr lang="zh-CN" altLang="en-US" sz="1400" b="1"/>
                        <a:t>模型</a:t>
                      </a:r>
                      <a:r>
                        <a:rPr lang="zh-CN" altLang="en-US" sz="1400"/>
                        <a:t>：根据《研究生学校管理规定》第十九条第（一）款，学生（学位）和专业学位（同一学位）各自应不得不填写本院（系）的相关证据。申请复查并经同学或相关系同意并提供本院公布的复查结果。</a:t>
                      </a:r>
                      <a:endParaRPr lang="zh-CN" altLang="en-US" sz="1400"/>
                    </a:p>
                  </a:txBody>
                  <a:tcPr marL="101917" marR="101917" marT="101917" marB="101917" anchor="t" anchorCtr="0"/>
                </a:tc>
              </a:tr>
              <a:tr h="495300">
                <a:tc>
                  <a:txBody>
                    <a:bodyPr/>
                    <a:p>
                      <a:pPr fontAlgn="t">
                        <a:buNone/>
                      </a:pPr>
                      <a:r>
                        <a:rPr lang="en-US" altLang="zh-CN" sz="1400" b="1"/>
                        <a:t>EP=8</a:t>
                      </a:r>
                      <a:r>
                        <a:rPr lang="zh-CN" altLang="en-US" sz="1400" b="1"/>
                        <a:t>的</a:t>
                      </a:r>
                      <a:r>
                        <a:rPr lang="en-US" altLang="zh-CN" sz="1400" b="1"/>
                        <a:t>LoRA</a:t>
                      </a:r>
                      <a:r>
                        <a:rPr lang="zh-CN" altLang="en-US" sz="1400" b="1"/>
                        <a:t>模型</a:t>
                      </a:r>
                      <a:r>
                        <a:rPr lang="zh-CN" altLang="en-US" sz="1400"/>
                        <a:t>：根据《研究生学籍管理规定》第六条，校长办公厅应提前</a:t>
                      </a:r>
                      <a:r>
                        <a:rPr lang="en-US" altLang="zh-CN" sz="1400"/>
                        <a:t>3</a:t>
                      </a:r>
                      <a:r>
                        <a:rPr lang="zh-CN" altLang="en-US" sz="1400"/>
                        <a:t>小时办理复查手续，由学校根据工作细则决定。</a:t>
                      </a:r>
                      <a:endParaRPr lang="zh-CN" altLang="en-US" sz="1400"/>
                    </a:p>
                  </a:txBody>
                  <a:tcPr marL="101917" marR="101917" marT="101917" marB="101917" anchor="t" anchorCtr="0"/>
                </a:tc>
              </a:tr>
            </a:tbl>
          </a:graphicData>
        </a:graphic>
      </p:graphicFrame>
      <p:sp>
        <p:nvSpPr>
          <p:cNvPr id="9" name="文本框 8"/>
          <p:cNvSpPr txBox="1"/>
          <p:nvPr/>
        </p:nvSpPr>
        <p:spPr>
          <a:xfrm>
            <a:off x="680720" y="1792605"/>
            <a:ext cx="11294745" cy="398780"/>
          </a:xfrm>
          <a:prstGeom prst="rect">
            <a:avLst/>
          </a:prstGeom>
          <a:noFill/>
        </p:spPr>
        <p:txBody>
          <a:bodyPr wrap="square">
            <a:spAutoFit/>
          </a:bodyPr>
          <a:lstStyle/>
          <a:p>
            <a:pPr indent="0">
              <a:buFont typeface="Arial" panose="020B0604020202090204" pitchFamily="34" charset="0"/>
              <a:buNone/>
            </a:pPr>
            <a:r>
              <a:rPr lang="zh-CN" altLang="en-US" sz="2000" b="1" dirty="0"/>
              <a:t>手册问题</a:t>
            </a:r>
            <a:r>
              <a:rPr lang="zh-CN" altLang="en-US" sz="2000" b="1" dirty="0"/>
              <a:t>对比</a:t>
            </a:r>
            <a:endParaRPr lang="zh-CN" alt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algn="l" defTabSz="914400" fontAlgn="auto">
              <a:lnSpc>
                <a:spcPct val="100000"/>
              </a:lnSpc>
              <a:spcBef>
                <a:spcPts val="0"/>
              </a:spcBef>
              <a:spcAft>
                <a:spcPts val="0"/>
              </a:spcAft>
              <a:buClrTx/>
              <a:buSzTx/>
              <a:buFontTx/>
              <a:buNone/>
              <a:defRPr/>
            </a:pP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手册</a:t>
            </a:r>
            <a:r>
              <a:rPr lang="en-US" altLang="zh-CN"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LoRA</a:t>
            </a: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微调结果分析</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——非手册问题</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对比</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80720" y="1392555"/>
            <a:ext cx="11294745" cy="398780"/>
          </a:xfrm>
          <a:prstGeom prst="rect">
            <a:avLst/>
          </a:prstGeom>
          <a:noFill/>
        </p:spPr>
        <p:txBody>
          <a:bodyPr wrap="square">
            <a:spAutoFit/>
          </a:bodyPr>
          <a:lstStyle/>
          <a:p>
            <a:pPr indent="0">
              <a:buFont typeface="Arial" panose="020B0604020202090204" pitchFamily="34" charset="0"/>
              <a:buNone/>
            </a:pPr>
            <a:r>
              <a:rPr lang="zh-CN" altLang="en-US" sz="2000" dirty="0"/>
              <a:t>分别运行</a:t>
            </a:r>
            <a:r>
              <a:rPr lang="en-US" altLang="zh-CN" sz="2000" dirty="0"/>
              <a:t>SFT</a:t>
            </a:r>
            <a:r>
              <a:rPr lang="zh-CN" altLang="en-US" sz="2000" dirty="0"/>
              <a:t>训练后的模型和挂载</a:t>
            </a:r>
            <a:r>
              <a:rPr lang="en-US" altLang="zh-CN" sz="2000" dirty="0"/>
              <a:t>LoRA</a:t>
            </a:r>
            <a:r>
              <a:rPr lang="zh-CN" altLang="en-US" sz="2000" dirty="0"/>
              <a:t>的模型，部分测试结果</a:t>
            </a:r>
            <a:r>
              <a:rPr lang="zh-CN" altLang="en-US" sz="2000" dirty="0"/>
              <a:t>如下</a:t>
            </a:r>
            <a:endParaRPr lang="zh-CN" altLang="en-US" sz="2000" dirty="0"/>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57810" y="3074035"/>
            <a:ext cx="914400" cy="914400"/>
          </a:xfrm>
          <a:prstGeom prst="rect">
            <a:avLst/>
          </a:prstGeom>
          <a:noFill/>
        </p:spPr>
        <p:txBody>
          <a:bodyPr wrap="none" rtlCol="0">
            <a:noAutofit/>
          </a:bodyPr>
          <a:p>
            <a:pPr marL="0" marR="0" indent="0" algn="l" defTabSz="914400" rtl="0" eaLnBrk="1" fontAlgn="auto" latinLnBrk="0" hangingPunct="1">
              <a:lnSpc>
                <a:spcPct val="100000"/>
              </a:lnSpc>
              <a:spcBef>
                <a:spcPts val="0"/>
              </a:spcBef>
              <a:spcAft>
                <a:spcPts val="0"/>
              </a:spcAft>
              <a:buClrTx/>
              <a:buSzTx/>
              <a:buFontTx/>
              <a:buNone/>
            </a:pPr>
            <a:endParaRPr kumimoji="0" lang="zh-CN" altLang="en-US"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endParaRPr>
          </a:p>
        </p:txBody>
      </p:sp>
      <p:graphicFrame>
        <p:nvGraphicFramePr>
          <p:cNvPr id="5" name="表格 4"/>
          <p:cNvGraphicFramePr/>
          <p:nvPr/>
        </p:nvGraphicFramePr>
        <p:xfrm>
          <a:off x="576580" y="2459990"/>
          <a:ext cx="11303635" cy="3360420"/>
        </p:xfrm>
        <a:graphic>
          <a:graphicData uri="http://schemas.openxmlformats.org/drawingml/2006/table">
            <a:tbl>
              <a:tblPr firstRow="1">
                <a:tableStyleId>{5C22544A-7EE6-4342-B048-85BDC9FD1C3A}</a:tableStyleId>
              </a:tblPr>
              <a:tblGrid>
                <a:gridCol w="11303635"/>
              </a:tblGrid>
              <a:tr h="495300">
                <a:tc>
                  <a:txBody>
                    <a:bodyPr/>
                    <a:p>
                      <a:pPr fontAlgn="t"/>
                      <a:r>
                        <a:rPr lang="zh-CN" altLang="en-US" sz="1800"/>
                        <a:t>问：如果明天下雨，我应该如何出门</a:t>
                      </a:r>
                      <a:endParaRPr lang="zh-CN" altLang="en-US" sz="1800"/>
                    </a:p>
                  </a:txBody>
                  <a:tcPr marL="101917" marR="101917" marT="101917" marB="101917" anchor="t" anchorCtr="0"/>
                </a:tc>
              </a:tr>
              <a:tr h="495300">
                <a:tc>
                  <a:txBody>
                    <a:bodyPr/>
                    <a:p>
                      <a:pPr fontAlgn="t"/>
                      <a:r>
                        <a:rPr lang="zh-CN" altLang="en-US" sz="1800" b="1"/>
                        <a:t>无</a:t>
                      </a:r>
                      <a:r>
                        <a:rPr lang="en-US" altLang="zh-CN" sz="1800" b="1"/>
                        <a:t>LoRA</a:t>
                      </a:r>
                      <a:r>
                        <a:rPr lang="zh-CN" altLang="en-US" sz="1800" b="1"/>
                        <a:t>模型</a:t>
                      </a:r>
                      <a:r>
                        <a:rPr lang="zh-CN" altLang="en-US" sz="1800"/>
                        <a:t>：如果明天下雨，出门最好还是携带一把雨伞、雨衣或者防水外套。选择一把适合出门的雨伞，可以让你在雨天更加舒适，也更舒适。如果天气不佳，可以带上一把伞，保持干爽，这样就不会影响出行。同时，穿上一双合适的雨衣，可以避免雨水造成不必要的干扰。最重要的是，确保雨伞与地面湿度较高，以避免水分流失，同时防水防晒。</a:t>
                      </a:r>
                      <a:endParaRPr lang="zh-CN" altLang="en-US" sz="1800"/>
                    </a:p>
                  </a:txBody>
                  <a:tcPr marL="101917" marR="101917" marT="101917" marB="101917" anchor="t" anchorCtr="0"/>
                </a:tc>
              </a:tr>
              <a:tr h="495300">
                <a:tc>
                  <a:txBody>
                    <a:bodyPr/>
                    <a:p>
                      <a:pPr fontAlgn="t"/>
                      <a:r>
                        <a:rPr lang="en-US" altLang="zh-CN" sz="1800" b="1"/>
                        <a:t>EP=6</a:t>
                      </a:r>
                      <a:r>
                        <a:rPr lang="zh-CN" altLang="en-US" sz="1800" b="1"/>
                        <a:t>的</a:t>
                      </a:r>
                      <a:r>
                        <a:rPr lang="en-US" altLang="zh-CN" sz="1800" b="1"/>
                        <a:t>LoRA</a:t>
                      </a:r>
                      <a:r>
                        <a:rPr lang="zh-CN" altLang="en-US" sz="1800" b="1"/>
                        <a:t>模型</a:t>
                      </a:r>
                      <a:r>
                        <a:rPr lang="zh-CN" altLang="en-US" sz="1800"/>
                        <a:t>：根据《三国演义》第九条第九款第四款，下雨时，应穿着防雨衣物，带上雨具和衣物，带上雨伞和雨衣，防风外套等。因此，出门时应穿上防雨衣，保持干燥舒适。</a:t>
                      </a:r>
                      <a:endParaRPr lang="zh-CN" altLang="en-US" sz="1800"/>
                    </a:p>
                  </a:txBody>
                  <a:tcPr marL="101917" marR="101917" marT="101917" marB="101917" anchor="t" anchorCtr="0"/>
                </a:tc>
              </a:tr>
              <a:tr h="495300">
                <a:tc>
                  <a:txBody>
                    <a:bodyPr/>
                    <a:p>
                      <a:pPr fontAlgn="t">
                        <a:buNone/>
                      </a:pPr>
                      <a:r>
                        <a:rPr lang="en-US" altLang="zh-CN" sz="1800" b="1"/>
                        <a:t>EP=8</a:t>
                      </a:r>
                      <a:r>
                        <a:rPr lang="zh-CN" altLang="en-US" sz="1800" b="1"/>
                        <a:t>的</a:t>
                      </a:r>
                      <a:r>
                        <a:rPr lang="en-US" altLang="zh-CN" sz="1800" b="1"/>
                        <a:t>LoRA</a:t>
                      </a:r>
                      <a:r>
                        <a:rPr lang="zh-CN" altLang="en-US" sz="1800" b="1"/>
                        <a:t>模型</a:t>
                      </a:r>
                      <a:r>
                        <a:rPr lang="zh-CN" altLang="en-US" sz="1800"/>
                        <a:t>：根据《学生出门规定》第四条第（六）款，下雨时必须穿伞以防突发天气，同时带上雨具并携带雨具和物品。</a:t>
                      </a:r>
                      <a:endParaRPr lang="zh-CN" altLang="en-US" sz="1800"/>
                    </a:p>
                  </a:txBody>
                  <a:tcPr marL="101917" marR="101917" marT="101917" marB="101917" anchor="t" anchorCtr="0"/>
                </a:tc>
              </a:tr>
            </a:tbl>
          </a:graphicData>
        </a:graphic>
      </p:graphicFrame>
      <p:sp>
        <p:nvSpPr>
          <p:cNvPr id="9" name="文本框 8"/>
          <p:cNvSpPr txBox="1"/>
          <p:nvPr/>
        </p:nvSpPr>
        <p:spPr>
          <a:xfrm>
            <a:off x="680720" y="1792605"/>
            <a:ext cx="11294745" cy="398780"/>
          </a:xfrm>
          <a:prstGeom prst="rect">
            <a:avLst/>
          </a:prstGeom>
          <a:noFill/>
        </p:spPr>
        <p:txBody>
          <a:bodyPr wrap="square">
            <a:spAutoFit/>
          </a:bodyPr>
          <a:lstStyle/>
          <a:p>
            <a:pPr indent="0">
              <a:buFont typeface="Arial" panose="020B0604020202090204" pitchFamily="34" charset="0"/>
              <a:buNone/>
            </a:pPr>
            <a:r>
              <a:rPr lang="zh-CN" altLang="en-US" sz="2000" b="1" dirty="0"/>
              <a:t>非手册问题</a:t>
            </a:r>
            <a:r>
              <a:rPr lang="zh-CN" altLang="en-US" sz="2000" b="1" dirty="0"/>
              <a:t>对比</a:t>
            </a:r>
            <a:endParaRPr lang="zh-CN" alt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algn="l" defTabSz="914400" fontAlgn="auto">
              <a:lnSpc>
                <a:spcPct val="100000"/>
              </a:lnSpc>
              <a:spcBef>
                <a:spcPts val="0"/>
              </a:spcBef>
              <a:spcAft>
                <a:spcPts val="0"/>
              </a:spcAft>
              <a:buClrTx/>
              <a:buSzTx/>
              <a:buFontTx/>
              <a:buNone/>
              <a:defRPr/>
            </a:pP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手册</a:t>
            </a:r>
            <a:r>
              <a:rPr lang="en-US" altLang="zh-CN"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LoRA</a:t>
            </a:r>
            <a:r>
              <a:rPr lang="zh-CN" altLang="en-US" sz="2400" b="1" noProof="0" dirty="0">
                <a:solidFill>
                  <a:schemeClr val="accent1">
                    <a:lumMod val="75000"/>
                  </a:schemeClr>
                </a:solidFill>
                <a:latin typeface="微软雅黑" panose="020B0503020204020204" pitchFamily="34" charset="-122"/>
                <a:ea typeface="微软雅黑" panose="020B0503020204020204" pitchFamily="34" charset="-122"/>
                <a:sym typeface="+mn-ea"/>
              </a:rPr>
              <a:t>微调结果分析</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总结</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80720" y="1392555"/>
            <a:ext cx="11294745" cy="4399915"/>
          </a:xfrm>
          <a:prstGeom prst="rect">
            <a:avLst/>
          </a:prstGeom>
          <a:noFill/>
        </p:spPr>
        <p:txBody>
          <a:bodyPr wrap="square">
            <a:spAutoFit/>
          </a:bodyPr>
          <a:lstStyle/>
          <a:p>
            <a:pPr indent="0">
              <a:buFont typeface="Arial" panose="020B0604020202090204" pitchFamily="34" charset="0"/>
              <a:buNone/>
            </a:pPr>
            <a:r>
              <a:rPr lang="zh-CN" altLang="en-US" sz="2000" dirty="0"/>
              <a:t>从上述对比，可以看出，</a:t>
            </a:r>
            <a:r>
              <a:rPr lang="en-US" altLang="zh-CN" sz="2000" dirty="0"/>
              <a:t>LoRA</a:t>
            </a:r>
            <a:r>
              <a:rPr lang="zh-CN" altLang="en-US" sz="2000" dirty="0"/>
              <a:t>微调有一定效果，但</a:t>
            </a:r>
            <a:r>
              <a:rPr lang="en-US" altLang="zh-CN" sz="2000" dirty="0"/>
              <a:t>64MB</a:t>
            </a:r>
            <a:r>
              <a:rPr lang="zh-CN" altLang="en-US" sz="2000" dirty="0"/>
              <a:t>的小模型在微调后表现出形式拟合，但实质知识缺失的矛盾现象：</a:t>
            </a:r>
            <a:endParaRPr lang="zh-CN" altLang="en-US" sz="2000" dirty="0"/>
          </a:p>
          <a:p>
            <a:pPr indent="0">
              <a:buFont typeface="Arial" panose="020B0604020202090204" pitchFamily="34" charset="0"/>
              <a:buNone/>
            </a:pPr>
            <a:endParaRPr lang="zh-CN" altLang="en-US" sz="2000" dirty="0"/>
          </a:p>
          <a:p>
            <a:pPr marL="342900" indent="-342900">
              <a:buFont typeface="Arial" panose="020B0604020202090204" pitchFamily="34" charset="0"/>
              <a:buChar char="•"/>
            </a:pPr>
            <a:r>
              <a:rPr lang="en-US" altLang="zh-CN" sz="2000" dirty="0"/>
              <a:t>LoRA </a:t>
            </a:r>
            <a:r>
              <a:rPr lang="zh-CN" altLang="en-US" sz="2000" dirty="0"/>
              <a:t>微调让模型迅速且精准地掌握了训练集中的公文答复格式。在测试中，挂载了</a:t>
            </a:r>
            <a:r>
              <a:rPr lang="en-US" altLang="zh-CN" sz="2000" dirty="0"/>
              <a:t>LoRA</a:t>
            </a:r>
            <a:r>
              <a:rPr lang="zh-CN" altLang="en-US" sz="2000" dirty="0"/>
              <a:t>的模型，无论</a:t>
            </a:r>
            <a:r>
              <a:rPr lang="zh-CN" altLang="en-US" sz="2000" dirty="0"/>
              <a:t>什么问题，模型几乎都能条件反射式地输出</a:t>
            </a:r>
            <a:r>
              <a:rPr lang="en-US" altLang="zh-CN" sz="2000" dirty="0"/>
              <a:t>“</a:t>
            </a:r>
            <a:r>
              <a:rPr lang="zh-CN" altLang="en-US" sz="2000" dirty="0"/>
              <a:t>根据《</a:t>
            </a:r>
            <a:r>
              <a:rPr lang="en-US" altLang="zh-CN" sz="2000" dirty="0"/>
              <a:t>XXXX</a:t>
            </a:r>
            <a:r>
              <a:rPr lang="zh-CN" altLang="en-US" sz="2000" dirty="0"/>
              <a:t>》第</a:t>
            </a:r>
            <a:r>
              <a:rPr lang="en-US" altLang="zh-CN" sz="2000" dirty="0"/>
              <a:t> X </a:t>
            </a:r>
            <a:r>
              <a:rPr lang="zh-CN" altLang="en-US" sz="2000" dirty="0"/>
              <a:t>条第</a:t>
            </a:r>
            <a:r>
              <a:rPr lang="en-US" altLang="zh-CN" sz="2000" dirty="0"/>
              <a:t> X </a:t>
            </a:r>
            <a:r>
              <a:rPr lang="zh-CN" altLang="en-US" sz="2000" dirty="0"/>
              <a:t>款</a:t>
            </a:r>
            <a:r>
              <a:rPr lang="en-US" altLang="zh-CN" sz="2000" dirty="0"/>
              <a:t>……”</a:t>
            </a:r>
            <a:r>
              <a:rPr lang="zh-CN" altLang="en-US" sz="2000" dirty="0"/>
              <a:t>的标准教条式句式。</a:t>
            </a:r>
            <a:endParaRPr lang="zh-CN" altLang="en-US" sz="2000" dirty="0"/>
          </a:p>
          <a:p>
            <a:pPr marL="342900" indent="-342900">
              <a:buFont typeface="Arial" panose="020B0604020202090204" pitchFamily="34" charset="0"/>
              <a:buChar char="•"/>
            </a:pPr>
            <a:r>
              <a:rPr lang="zh-CN" altLang="en-US" sz="2000" dirty="0"/>
              <a:t>在手册内容问题对比中，无</a:t>
            </a:r>
            <a:r>
              <a:rPr lang="en-US" altLang="zh-CN" sz="2000" dirty="0"/>
              <a:t> LoRA </a:t>
            </a:r>
            <a:r>
              <a:rPr lang="zh-CN" altLang="en-US" sz="2000" dirty="0"/>
              <a:t>模型完全无法给出有效回答，其输出内容多为通用的、无关的职场或考试建议。而</a:t>
            </a:r>
            <a:r>
              <a:rPr lang="en-US" altLang="zh-CN" sz="2000" dirty="0"/>
              <a:t> LoRA</a:t>
            </a:r>
            <a:r>
              <a:rPr lang="zh-CN" altLang="en-US" sz="2000" dirty="0"/>
              <a:t>实验模型在微调后，学会了</a:t>
            </a:r>
            <a:r>
              <a:rPr lang="en-US" altLang="zh-CN" sz="2000" dirty="0"/>
              <a:t>“</a:t>
            </a:r>
            <a:r>
              <a:rPr lang="zh-CN" altLang="en-US" sz="2000" dirty="0"/>
              <a:t>根据</a:t>
            </a:r>
            <a:r>
              <a:rPr lang="en-US" altLang="zh-CN" sz="2000" dirty="0"/>
              <a:t>xxxx</a:t>
            </a:r>
            <a:r>
              <a:rPr lang="zh-CN" altLang="en-US" sz="2000" dirty="0"/>
              <a:t>第</a:t>
            </a:r>
            <a:r>
              <a:rPr lang="en-US" altLang="zh-CN" sz="2000" dirty="0"/>
              <a:t>x</a:t>
            </a:r>
            <a:r>
              <a:rPr lang="zh-CN" altLang="en-US" sz="2000" dirty="0"/>
              <a:t>条</a:t>
            </a:r>
            <a:r>
              <a:rPr lang="en-US" altLang="zh-CN" sz="2000" dirty="0"/>
              <a:t>xxx</a:t>
            </a:r>
            <a:r>
              <a:rPr lang="zh-CN" altLang="en-US" sz="2000" dirty="0"/>
              <a:t>，</a:t>
            </a:r>
            <a:r>
              <a:rPr lang="en-US" altLang="zh-CN" sz="2000" dirty="0"/>
              <a:t>……”</a:t>
            </a:r>
            <a:r>
              <a:rPr lang="zh-CN" altLang="en-US" sz="2000" dirty="0"/>
              <a:t>的句式，开始尝试引用《研究生学籍管理规定》等手册中的特定条款进行回答。</a:t>
            </a:r>
            <a:endParaRPr lang="zh-CN" altLang="en-US" sz="2000" dirty="0"/>
          </a:p>
          <a:p>
            <a:pPr marL="342900" indent="-342900">
              <a:buFont typeface="Arial" panose="020B0604020202090204" pitchFamily="34" charset="0"/>
              <a:buChar char="•"/>
            </a:pPr>
            <a:r>
              <a:rPr lang="zh-CN" altLang="en-US" sz="2000" dirty="0">
                <a:sym typeface="+mn-ea"/>
              </a:rPr>
              <a:t>由于</a:t>
            </a:r>
            <a:r>
              <a:rPr lang="en-US" altLang="zh-CN" sz="2000" dirty="0">
                <a:sym typeface="+mn-ea"/>
              </a:rPr>
              <a:t> MiniMind </a:t>
            </a:r>
            <a:r>
              <a:rPr lang="zh-CN" altLang="en-US" sz="2000" dirty="0">
                <a:sym typeface="+mn-ea"/>
              </a:rPr>
              <a:t>模型本身的参数量极小，</a:t>
            </a:r>
            <a:r>
              <a:rPr lang="en-US" altLang="zh-CN" sz="2000" dirty="0"/>
              <a:t>LoRA</a:t>
            </a:r>
            <a:r>
              <a:rPr lang="zh-CN" altLang="en-US" sz="2000" dirty="0"/>
              <a:t>微调体现出的学习仅仅停留在语言的表层分布上，并未真正实现知识的内化。</a:t>
            </a:r>
            <a:endParaRPr lang="zh-CN" altLang="en-US" sz="2000" dirty="0"/>
          </a:p>
          <a:p>
            <a:pPr marL="342900" indent="-342900">
              <a:buFont typeface="Arial" panose="020B0604020202090204" pitchFamily="34" charset="0"/>
              <a:buChar char="•"/>
            </a:pPr>
            <a:r>
              <a:rPr lang="zh-CN" altLang="en-US" sz="2000" dirty="0"/>
              <a:t>为了强行拟合特定领域的教条格式，</a:t>
            </a:r>
            <a:r>
              <a:rPr lang="en-US" altLang="zh-CN" sz="2000" dirty="0"/>
              <a:t>LoRA</a:t>
            </a:r>
            <a:r>
              <a:rPr lang="zh-CN" altLang="en-US" sz="2000" dirty="0"/>
              <a:t>微调后的模型原本的通用对话能力受到了破坏。</a:t>
            </a:r>
            <a:r>
              <a:rPr lang="en-US" altLang="zh-CN" sz="2000" dirty="0"/>
              <a:t>Epoch=10</a:t>
            </a:r>
            <a:r>
              <a:rPr lang="zh-CN" altLang="en-US" sz="2000" dirty="0"/>
              <a:t>的模型在回答</a:t>
            </a:r>
            <a:r>
              <a:rPr lang="en-US" altLang="zh-CN" sz="2000" dirty="0"/>
              <a:t>“</a:t>
            </a:r>
            <a:r>
              <a:rPr lang="zh-CN" altLang="en-US" sz="2000" dirty="0"/>
              <a:t>你有什么特长？</a:t>
            </a:r>
            <a:r>
              <a:rPr lang="en-US" altLang="zh-CN" sz="2000" dirty="0"/>
              <a:t>”</a:t>
            </a:r>
            <a:r>
              <a:rPr lang="zh-CN" altLang="en-US" sz="2000" dirty="0"/>
              <a:t>这一自我认知问题时，完全丧失了</a:t>
            </a:r>
            <a:r>
              <a:rPr lang="en-US" altLang="zh-CN" sz="2000" dirty="0"/>
              <a:t>AI</a:t>
            </a:r>
            <a:r>
              <a:rPr lang="zh-CN" altLang="en-US" sz="2000" dirty="0"/>
              <a:t>助手的定位，转而像复读机一样罗列了</a:t>
            </a:r>
            <a:r>
              <a:rPr lang="en-US" altLang="zh-CN" sz="2000" dirty="0"/>
              <a:t>10</a:t>
            </a:r>
            <a:r>
              <a:rPr lang="zh-CN" altLang="en-US" sz="2000" dirty="0"/>
              <a:t>条不知所云的</a:t>
            </a:r>
            <a:r>
              <a:rPr lang="en-US" altLang="zh-CN" sz="2000" dirty="0"/>
              <a:t>“</a:t>
            </a:r>
            <a:r>
              <a:rPr lang="zh-CN" altLang="en-US" sz="2000" dirty="0"/>
              <a:t>软技能培养经验</a:t>
            </a:r>
            <a:r>
              <a:rPr lang="en-US" altLang="zh-CN" sz="2000" dirty="0"/>
              <a:t>”</a:t>
            </a:r>
            <a:r>
              <a:rPr lang="zh-CN" altLang="en-US" sz="2000" dirty="0"/>
              <a:t>，出现了严重幻觉。</a:t>
            </a:r>
            <a:endParaRPr lang="zh-CN" altLang="en-US" sz="2000" dirty="0"/>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03 </a:t>
            </a:r>
            <a:r>
              <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实验结果</a:t>
            </a:r>
            <a:endParaRPr kumimoji="0" 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文本框 13"/>
          <p:cNvSpPr txBox="1"/>
          <p:nvPr/>
        </p:nvSpPr>
        <p:spPr>
          <a:xfrm>
            <a:off x="1214120" y="877570"/>
            <a:ext cx="7426325" cy="461645"/>
          </a:xfrm>
          <a:prstGeom prst="rect">
            <a:avLst/>
          </a:prstGeom>
          <a:noFill/>
        </p:spPr>
        <p:txBody>
          <a:bodyPr wrap="none" rtlCol="0">
            <a:noAutofit/>
          </a:bodyPr>
          <a:lstStyle/>
          <a:p>
            <a:pPr marR="0" indent="0" algn="l"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复刻实验成功，</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但受到物理尺寸</a:t>
            </a:r>
            <a:r>
              <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rPr>
              <a:t>限制</a:t>
            </a:r>
            <a:endParaRPr kumimoji="0" lang="zh-CN" altLang="en-US" sz="2400" b="1" i="0" kern="1200" cap="none" spc="0" normalizeH="0" baseline="0" noProof="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1044575" y="1280795"/>
            <a:ext cx="10778490" cy="4707890"/>
          </a:xfrm>
          <a:prstGeom prst="rect">
            <a:avLst/>
          </a:prstGeom>
          <a:noFill/>
        </p:spPr>
        <p:txBody>
          <a:bodyPr wrap="square">
            <a:spAutoFit/>
          </a:bodyPr>
          <a:lstStyle/>
          <a:p>
            <a:pPr indent="0">
              <a:buFont typeface="Arial" panose="020B0604020202090204" pitchFamily="34" charset="0"/>
              <a:buNone/>
            </a:pPr>
            <a:r>
              <a:rPr lang="zh-CN" altLang="en-US" sz="2000" dirty="0"/>
              <a:t>本实验完整跑通了从数据预处理、预训练、指令微调（</a:t>
            </a:r>
            <a:r>
              <a:rPr lang="en-US" altLang="zh-CN" sz="2000" dirty="0"/>
              <a:t>SFT</a:t>
            </a:r>
            <a:r>
              <a:rPr lang="zh-CN" altLang="en-US" sz="2000" dirty="0"/>
              <a:t>）到</a:t>
            </a:r>
            <a:r>
              <a:rPr lang="en-US" altLang="zh-CN" sz="2000" dirty="0"/>
              <a:t>LoRA</a:t>
            </a:r>
            <a:r>
              <a:rPr lang="zh-CN" altLang="en-US" sz="2000" dirty="0"/>
              <a:t>参数高效微调的</a:t>
            </a:r>
            <a:r>
              <a:rPr lang="en-US" altLang="zh-CN" sz="2000" dirty="0"/>
              <a:t>LLM</a:t>
            </a:r>
            <a:r>
              <a:rPr lang="zh-CN" altLang="en-US" sz="2000" dirty="0"/>
              <a:t>生命周期训练链路。通过对</a:t>
            </a:r>
            <a:r>
              <a:rPr lang="en-US" altLang="zh-CN" sz="2000" dirty="0"/>
              <a:t>MiniMind</a:t>
            </a:r>
            <a:r>
              <a:rPr lang="zh-CN" altLang="en-US" sz="2000" dirty="0"/>
              <a:t>模型的复刻与垂直领域知识注入尝试，得出以下结论：</a:t>
            </a:r>
            <a:endParaRPr lang="zh-CN" altLang="en-US" sz="2000" dirty="0"/>
          </a:p>
          <a:p>
            <a:pPr indent="0">
              <a:buFont typeface="Arial" panose="020B0604020202090204" pitchFamily="34" charset="0"/>
              <a:buNone/>
            </a:pPr>
            <a:endParaRPr lang="zh-CN" altLang="en-US" sz="2000" dirty="0"/>
          </a:p>
          <a:p>
            <a:pPr indent="0">
              <a:buFont typeface="Arial" panose="020B0604020202090204" pitchFamily="34" charset="0"/>
              <a:buNone/>
            </a:pPr>
            <a:r>
              <a:rPr lang="en-US" altLang="zh-CN" sz="2000" dirty="0"/>
              <a:t>1. </a:t>
            </a:r>
            <a:r>
              <a:rPr lang="zh-CN" altLang="en-US" sz="2000" b="1" dirty="0"/>
              <a:t>复刻实验验证成功</a:t>
            </a:r>
            <a:r>
              <a:rPr lang="zh-CN" altLang="en-US" sz="2000" dirty="0"/>
              <a:t>，训练链路跑通，损失函数曲线的合理收敛，证明了实验所采用的超参数配置与训练脚本逻辑是正确的。仅依靠有限算力和</a:t>
            </a:r>
            <a:r>
              <a:rPr lang="en-US" altLang="zh-CN" sz="2000" dirty="0"/>
              <a:t>Mini</a:t>
            </a:r>
            <a:r>
              <a:rPr lang="zh-CN" altLang="en-US" sz="2000" dirty="0"/>
              <a:t>数据集从头训练的情况下，模型依然展现出了基础的逻辑对齐能力</a:t>
            </a:r>
            <a:r>
              <a:rPr lang="zh-CN" sz="2000" dirty="0"/>
              <a:t>，</a:t>
            </a:r>
            <a:r>
              <a:rPr lang="zh-CN" altLang="en-US" sz="2000" dirty="0"/>
              <a:t>证明了预训练和</a:t>
            </a:r>
            <a:r>
              <a:rPr lang="en-US" altLang="zh-CN" sz="2000" dirty="0"/>
              <a:t>SFT</a:t>
            </a:r>
            <a:r>
              <a:rPr lang="zh-CN" altLang="en-US" sz="2000" dirty="0"/>
              <a:t>训练的有效性。</a:t>
            </a:r>
            <a:endParaRPr lang="zh-CN" altLang="en-US" sz="2000" dirty="0"/>
          </a:p>
          <a:p>
            <a:pPr indent="0">
              <a:buFont typeface="Arial" panose="020B0604020202090204" pitchFamily="34" charset="0"/>
              <a:buNone/>
            </a:pPr>
            <a:endParaRPr lang="zh-CN" altLang="en-US" sz="2000" dirty="0"/>
          </a:p>
          <a:p>
            <a:pPr indent="0">
              <a:buFont typeface="Arial" panose="020B0604020202090204" pitchFamily="34" charset="0"/>
              <a:buNone/>
            </a:pPr>
            <a:r>
              <a:rPr lang="en-US" altLang="zh-CN" sz="2000" dirty="0"/>
              <a:t>2. </a:t>
            </a:r>
            <a:r>
              <a:rPr lang="en-US" altLang="zh-CN" sz="2000" b="1" dirty="0"/>
              <a:t>LoRA</a:t>
            </a:r>
            <a:r>
              <a:rPr lang="zh-CN" altLang="en-US" sz="2000" b="1" dirty="0"/>
              <a:t>微调实验存在形式大于实质的缺陷</a:t>
            </a:r>
            <a:r>
              <a:rPr lang="zh-CN" altLang="en-US" sz="2000" dirty="0"/>
              <a:t>，</a:t>
            </a:r>
            <a:r>
              <a:rPr lang="en-US" altLang="zh-CN" sz="2000" dirty="0"/>
              <a:t>LoRA</a:t>
            </a:r>
            <a:r>
              <a:rPr lang="zh-CN" altLang="en-US" sz="2000" dirty="0"/>
              <a:t>微调使得模型迅速且过拟合地掌握了教条式的公文答复格式，但由于模型自身的参数容量极小，根本无法真正存储手册中密集的真实条款。模型只是套用了正确的</a:t>
            </a:r>
            <a:r>
              <a:rPr lang="en-US" altLang="zh-CN" sz="2000" dirty="0"/>
              <a:t>“</a:t>
            </a:r>
            <a:r>
              <a:rPr lang="zh-CN" altLang="en-US" sz="2000" dirty="0"/>
              <a:t>语法外壳</a:t>
            </a:r>
            <a:r>
              <a:rPr lang="en-US" altLang="zh-CN" sz="2000" dirty="0"/>
              <a:t>”</a:t>
            </a:r>
            <a:r>
              <a:rPr lang="zh-CN" altLang="en-US" sz="2000" dirty="0"/>
              <a:t>，里面填塞的却是随机拼接的词汇碎片。</a:t>
            </a:r>
            <a:endParaRPr lang="zh-CN" altLang="en-US" sz="2000" dirty="0"/>
          </a:p>
          <a:p>
            <a:pPr indent="0">
              <a:buFont typeface="Arial" panose="020B0604020202090204" pitchFamily="34" charset="0"/>
              <a:buNone/>
            </a:pPr>
            <a:endParaRPr lang="zh-CN" altLang="en-US" sz="2000" dirty="0"/>
          </a:p>
          <a:p>
            <a:pPr indent="0">
              <a:buFont typeface="Arial" panose="020B0604020202090204" pitchFamily="34" charset="0"/>
              <a:buNone/>
            </a:pPr>
            <a:r>
              <a:rPr lang="zh-CN" altLang="en-US" sz="2000" dirty="0"/>
              <a:t>强行向极小模型注入垂直领域知识，不仅未能使其成为</a:t>
            </a:r>
            <a:r>
              <a:rPr lang="en-US" altLang="zh-CN" sz="2000" dirty="0"/>
              <a:t>“</a:t>
            </a:r>
            <a:r>
              <a:rPr lang="zh-CN" altLang="en-US" sz="2000" dirty="0"/>
              <a:t>领域专家</a:t>
            </a:r>
            <a:r>
              <a:rPr lang="en-US" altLang="zh-CN" sz="2000" dirty="0"/>
              <a:t>”</a:t>
            </a:r>
            <a:r>
              <a:rPr lang="zh-CN" altLang="en-US" sz="2000" dirty="0"/>
              <a:t>，反而破坏了其原有的通用对话能力。模型在回答日常常识时出现了严重错乱，产生了荒谬的幻觉现象。</a:t>
            </a:r>
            <a:endParaRPr lang="zh-CN" altLang="en-US" sz="2000" dirty="0"/>
          </a:p>
          <a:p>
            <a:pPr indent="0">
              <a:buFont typeface="Arial" panose="020B0604020202090204" pitchFamily="34" charset="0"/>
              <a:buNone/>
            </a:pPr>
            <a:endParaRPr lang="zh-CN" altLang="en-US" sz="2000" dirty="0"/>
          </a:p>
          <a:p>
            <a:pPr indent="0">
              <a:buFont typeface="Arial" panose="020B0604020202090204" pitchFamily="34" charset="0"/>
              <a:buNone/>
            </a:pPr>
            <a:r>
              <a:rPr lang="zh-CN" altLang="en-US" sz="2000" dirty="0">
                <a:latin typeface="宋体" charset="0"/>
                <a:ea typeface="宋体" charset="0"/>
                <a:cs typeface="宋体" charset="0"/>
              </a:rPr>
              <a:t>百兆级以下的微型大模型其核心价值在于验证算法流程与学习对话范式，而非作为知识库使用。</a:t>
            </a:r>
            <a:r>
              <a:rPr lang="en-US" altLang="zh-CN" sz="2000" dirty="0">
                <a:latin typeface="宋体" charset="0"/>
                <a:ea typeface="宋体" charset="0"/>
                <a:cs typeface="宋体" charset="0"/>
              </a:rPr>
              <a:t> </a:t>
            </a:r>
            <a:endParaRPr lang="en-US" altLang="zh-CN" sz="2000" dirty="0">
              <a:latin typeface="宋体" charset="0"/>
              <a:ea typeface="宋体" charset="0"/>
              <a:cs typeface="宋体" charset="0"/>
            </a:endParaRPr>
          </a:p>
        </p:txBody>
      </p:sp>
      <p:sp>
        <p:nvSpPr>
          <p:cNvPr id="2" name="矩形 3"/>
          <p:cNvSpPr/>
          <p:nvPr/>
        </p:nvSpPr>
        <p:spPr>
          <a:xfrm>
            <a:off x="1197142" y="190184"/>
            <a:ext cx="2817450" cy="400110"/>
          </a:xfrm>
          <a:prstGeom prst="rect">
            <a:avLst/>
          </a:prstGeom>
        </p:spPr>
        <p:txBody>
          <a:bodyPr wrap="none">
            <a:noAutofit/>
          </a:bodyPr>
          <a:lstStyle/>
          <a:p>
            <a:pPr>
              <a:defRPr/>
            </a:pPr>
            <a:r>
              <a:rPr kumimoji="0"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04 </a:t>
            </a: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实验总结</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1"/>
            </p:custDataLst>
          </p:nvPr>
        </p:nvGraphicFramePr>
        <p:xfrm>
          <a:off x="3645853" y="3651885"/>
          <a:ext cx="4900295" cy="1981200"/>
        </p:xfrm>
        <a:graphic>
          <a:graphicData uri="http://schemas.openxmlformats.org/drawingml/2006/table">
            <a:tbl>
              <a:tblPr bandRow="1">
                <a:tableStyleId>{5C22544A-7EE6-4342-B048-85BDC9FD1C3A}</a:tableStyleId>
              </a:tblPr>
              <a:tblGrid>
                <a:gridCol w="1212850"/>
                <a:gridCol w="3687445"/>
              </a:tblGrid>
              <a:tr h="370840">
                <a:tc rowSpan="4">
                  <a:txBody>
                    <a:bodyPr/>
                    <a:p>
                      <a:pPr algn="ctr">
                        <a:lnSpc>
                          <a:spcPct val="100000"/>
                        </a:lnSpc>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小组成员</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a:noFill/>
                    </a:lnL>
                    <a:lnR w="12700">
                      <a:solidFill>
                        <a:schemeClr val="tx1"/>
                      </a:solidFill>
                      <a:prstDash val="solid"/>
                    </a:lnR>
                    <a:lnT>
                      <a:noFill/>
                    </a:lnT>
                    <a:lnB w="12700">
                      <a:solidFill>
                        <a:schemeClr val="tx1"/>
                      </a:solidFill>
                      <a:prstDash val="solid"/>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汤雅琴</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M202573115</a:t>
                      </a:r>
                      <a:endPar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a:noFill/>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cmpd="sng">
                      <a:noFill/>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赵甫霖</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M202573190</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cmpd="sng">
                      <a:noFill/>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罗</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畅</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M202573189</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vMerge="1">
                  <a:tcPr>
                    <a:lnL>
                      <a:noFill/>
                    </a:lnL>
                    <a:lnR w="12700">
                      <a:solidFill>
                        <a:schemeClr val="tx1"/>
                      </a:solidFill>
                      <a:prstDash val="solid"/>
                    </a:lnR>
                    <a:lnT w="12700" cmpd="sng">
                      <a:noFill/>
                    </a:lnT>
                    <a:lnB w="12700">
                      <a:solidFill>
                        <a:schemeClr val="tx1"/>
                      </a:solidFill>
                      <a:prstDash val="solid"/>
                    </a:lnB>
                    <a:lnTlToBr w="12700" cmpd="sng">
                      <a:noFill/>
                      <a:prstDash val="solid"/>
                    </a:lnTlToBr>
                    <a:lnBlToTr w="12700" cmpd="sng">
                      <a:noFill/>
                      <a:prstDash val="solid"/>
                    </a:lnBlToTr>
                    <a:noFill/>
                  </a:tcPr>
                </a:tc>
                <a:tc>
                  <a:txBody>
                    <a:bodyPr/>
                    <a:p>
                      <a:pPr algn="ctr">
                        <a:buNone/>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严子涵</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 D202581370</a:t>
                      </a:r>
                      <a:endParaRPr kumimoji="0" lang="en-US" altLang="zh-CN"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sym typeface="+mn-ea"/>
                      </a:endParaRPr>
                    </a:p>
                  </a:txBody>
                  <a:tcPr anchor="ctr" anchorCtr="0">
                    <a:lnL w="12700">
                      <a:solidFill>
                        <a:schemeClr val="tx1"/>
                      </a:solidFill>
                      <a:prstDash val="solid"/>
                    </a:lnL>
                    <a:lnR>
                      <a:noFill/>
                    </a:lnR>
                    <a:lnT w="12700">
                      <a:solidFill>
                        <a:schemeClr val="tx1"/>
                      </a:solidFill>
                      <a:prstDash val="solid"/>
                    </a:lnT>
                    <a:lnB w="12700">
                      <a:solidFill>
                        <a:schemeClr val="tx1"/>
                      </a:solidFill>
                      <a:prstDash val="solid"/>
                    </a:lnB>
                    <a:lnTlToBr w="12700" cmpd="sng">
                      <a:noFill/>
                      <a:prstDash val="solid"/>
                    </a:lnTlToBr>
                    <a:lnBlToTr w="12700" cmpd="sng">
                      <a:noFill/>
                      <a:prstDash val="solid"/>
                    </a:lnBlToTr>
                    <a:noFill/>
                  </a:tcPr>
                </a:tc>
              </a:tr>
              <a:tr h="370840">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完成日期</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a:noFill/>
                    </a:lnL>
                    <a:lnR w="12700">
                      <a:solidFill>
                        <a:schemeClr val="tx1"/>
                      </a:solidFill>
                      <a:prstDash val="solid"/>
                    </a:lnR>
                    <a:lnT w="12700">
                      <a:solidFill>
                        <a:schemeClr val="tx1"/>
                      </a:solidFill>
                      <a:prstDash val="solid"/>
                    </a:lnT>
                    <a:lnB>
                      <a:noFill/>
                    </a:lnB>
                    <a:lnTlToBr w="12700" cmpd="sng">
                      <a:noFill/>
                      <a:prstDash val="solid"/>
                    </a:lnTlToBr>
                    <a:lnBlToTr w="12700" cmpd="sng">
                      <a:noFill/>
                      <a:prstDash val="solid"/>
                    </a:lnBlToTr>
                    <a:no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2026</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年</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04</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月</a:t>
                      </a:r>
                      <a:r>
                        <a:rPr lang="en-US" altLang="zh-CN"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25</a:t>
                      </a:r>
                      <a:r>
                        <a:rPr lang="zh-CN" altLang="en-US" sz="200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日</a:t>
                      </a:r>
                      <a:endParaRPr kumimoji="0" lang="zh-CN" altLang="en-US" sz="2000" b="0" i="0" u="none" strike="noStrike" kern="1200" cap="none" spc="0" normalizeH="0" baseline="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a:txBody>
                  <a:tcPr anchor="ctr" anchorCtr="0">
                    <a:lnL w="12700">
                      <a:solidFill>
                        <a:schemeClr val="tx1"/>
                      </a:solidFill>
                      <a:prstDash val="solid"/>
                    </a:lnL>
                    <a:lnR>
                      <a:noFill/>
                    </a:lnR>
                    <a:lnT w="12700">
                      <a:solidFill>
                        <a:schemeClr val="tx1"/>
                      </a:solidFill>
                      <a:prstDash val="solid"/>
                    </a:lnT>
                    <a:lnB>
                      <a:noFill/>
                    </a:lnB>
                    <a:lnTlToBr w="12700" cmpd="sng">
                      <a:noFill/>
                      <a:prstDash val="solid"/>
                    </a:lnTlToBr>
                    <a:lnBlToTr w="12700" cmpd="sng">
                      <a:noFill/>
                      <a:prstDash val="solid"/>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PA" val="v4.2.4"/>
</p:tagLst>
</file>

<file path=ppt/tags/tag2.xml><?xml version="1.0" encoding="utf-8"?>
<p:tagLst xmlns:p="http://schemas.openxmlformats.org/presentationml/2006/main">
  <p:tag name="PA" val="v4.2.4"/>
</p:tagLst>
</file>

<file path=ppt/tags/tag3.xml><?xml version="1.0" encoding="utf-8"?>
<p:tagLst xmlns:p="http://schemas.openxmlformats.org/presentationml/2006/main">
  <p:tag name="PA" val="v4.2.4"/>
</p:tagLst>
</file>

<file path=ppt/tags/tag4.xml><?xml version="1.0" encoding="utf-8"?>
<p:tagLst xmlns:p="http://schemas.openxmlformats.org/presentationml/2006/main">
  <p:tag name="PA" val="v4.2.4"/>
</p:tagLst>
</file>

<file path=ppt/tags/tag5.xml><?xml version="1.0" encoding="utf-8"?>
<p:tagLst xmlns:p="http://schemas.openxmlformats.org/presentationml/2006/main">
  <p:tag name="PA" val="v4.2.4"/>
</p:tagLst>
</file>

<file path=ppt/tags/tag6.xml><?xml version="1.0" encoding="utf-8"?>
<p:tagLst xmlns:p="http://schemas.openxmlformats.org/presentationml/2006/main">
  <p:tag name="PA" val="v4.2.4"/>
</p:tagLst>
</file>

<file path=ppt/tags/tag7.xml><?xml version="1.0" encoding="utf-8"?>
<p:tagLst xmlns:p="http://schemas.openxmlformats.org/presentationml/2006/main">
  <p:tag name="PA" val="v4.2.4"/>
</p:tagLst>
</file>

<file path=ppt/tags/tag8.xml><?xml version="1.0" encoding="utf-8"?>
<p:tagLst xmlns:p="http://schemas.openxmlformats.org/presentationml/2006/main">
  <p:tag name="PA" val="v4.2.4"/>
</p:tagLst>
</file>

<file path=ppt/tags/tag9.xml><?xml version="1.0" encoding="utf-8"?>
<p:tagLst xmlns:p="http://schemas.openxmlformats.org/presentationml/2006/main">
  <p:tag name="PA" val="v4.2.4"/>
</p:tagLst>
</file>

<file path=ppt/tags/tag10.xml><?xml version="1.0" encoding="utf-8"?>
<p:tagLst xmlns:p="http://schemas.openxmlformats.org/presentationml/2006/main">
  <p:tag name="TABLE_ENDDRAG_ORIGIN_RECT" val="385*117"/>
  <p:tag name="TABLE_ENDDRAG_RECT" val="354*408*385*117"/>
</p:tagLst>
</file>

<file path=ppt/tags/tag11.xml><?xml version="1.0" encoding="utf-8"?>
<p:tagLst xmlns:p="http://schemas.openxmlformats.org/presentationml/2006/main">
  <p:tag name="TABLE_ENDDRAG_ORIGIN_RECT" val="397*83"/>
  <p:tag name="TABLE_ENDDRAG_RECT" val="95*105*397*83"/>
</p:tagLst>
</file>

<file path=ppt/tags/tag12.xml><?xml version="1.0" encoding="utf-8"?>
<p:tagLst xmlns:p="http://schemas.openxmlformats.org/presentationml/2006/main">
  <p:tag name="TABLE_ENDDRAG_ORIGIN_RECT" val="732*260"/>
  <p:tag name="TABLE_ENDDRAG_RECT" val="87*224*732*260"/>
</p:tagLst>
</file>

<file path=ppt/tags/tag13.xml><?xml version="1.0" encoding="utf-8"?>
<p:tagLst xmlns:p="http://schemas.openxmlformats.org/presentationml/2006/main">
  <p:tag name="TABLE_ENDDRAG_ORIGIN_RECT" val="385*117"/>
  <p:tag name="TABLE_ENDDRAG_RECT" val="354*408*385*117"/>
</p:tagLst>
</file>

<file path=ppt/theme/theme1.xml><?xml version="1.0" encoding="utf-8"?>
<a:theme xmlns:a="http://schemas.openxmlformats.org/drawingml/2006/main" name="毕业论文主题">
  <a:themeElements>
    <a:clrScheme name="">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3494BA"/>
      </a:hlink>
      <a:folHlink>
        <a:srgbClr val="9F6715"/>
      </a:folHlink>
    </a:clrScheme>
    <a:fontScheme name="自定义 9">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oAutofit/>
      </a:bodyPr>
      <a:lstStyle>
        <a:defPPr marL="0" marR="0" indent="0" algn="l" defTabSz="914400" rtl="0" eaLnBrk="1" fontAlgn="auto" latinLnBrk="0" hangingPunct="1">
          <a:lnSpc>
            <a:spcPct val="100000"/>
          </a:lnSpc>
          <a:spcBef>
            <a:spcPts val="0"/>
          </a:spcBef>
          <a:spcAft>
            <a:spcPts val="0"/>
          </a:spcAft>
          <a:buClrTx/>
          <a:buSzTx/>
          <a:buFontTx/>
          <a:buNone/>
          <a:defRPr kumimoji="0"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毕业论文主题">
  <a:themeElements>
    <a:clrScheme name="">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3494BA"/>
      </a:hlink>
      <a:folHlink>
        <a:srgbClr val="9F6715"/>
      </a:folHlink>
    </a:clrScheme>
    <a:fontScheme name="自定义 9">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oAutofit/>
      </a:bodyPr>
      <a:lstStyle>
        <a:defPPr marL="0" marR="0" indent="0" algn="l" defTabSz="914400" rtl="0" eaLnBrk="1" fontAlgn="auto" latinLnBrk="0" hangingPunct="1">
          <a:lnSpc>
            <a:spcPct val="100000"/>
          </a:lnSpc>
          <a:spcBef>
            <a:spcPts val="0"/>
          </a:spcBef>
          <a:spcAft>
            <a:spcPts val="0"/>
          </a:spcAft>
          <a:buClrTx/>
          <a:buSzTx/>
          <a:buFontTx/>
          <a:buNone/>
          <a:defRPr kumimoji="0" sz="3600" b="1" i="0" u="none" strike="noStrike" kern="1200" cap="none" spc="0" normalizeH="0" baseline="0" noProof="0" smtClean="0">
            <a:ln>
              <a:noFill/>
            </a:ln>
            <a:solidFill>
              <a:srgbClr val="FFC000"/>
            </a:solidFill>
            <a:effectLst/>
            <a:uLnTx/>
            <a:uFillTx/>
            <a:latin typeface="Arial" panose="020B0604020202090204"/>
            <a:ea typeface="微软雅黑" panose="020B0503020204020204" pitchFamily="34" charset="-122"/>
            <a:cs typeface="+mn-cs"/>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5463</Words>
  <Application>WPS 演示</Application>
  <PresentationFormat>宽屏</PresentationFormat>
  <Paragraphs>342</Paragraphs>
  <Slides>15</Slides>
  <Notes>12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15</vt:i4>
      </vt:variant>
    </vt:vector>
  </HeadingPairs>
  <TitlesOfParts>
    <vt:vector size="31" baseType="lpstr">
      <vt:lpstr>Arial</vt:lpstr>
      <vt:lpstr>宋体</vt:lpstr>
      <vt:lpstr>Wingdings</vt:lpstr>
      <vt:lpstr>Arial</vt:lpstr>
      <vt:lpstr>微软雅黑</vt:lpstr>
      <vt:lpstr>汉仪旗黑</vt:lpstr>
      <vt:lpstr>Times New Roman</vt:lpstr>
      <vt:lpstr>Calibri</vt:lpstr>
      <vt:lpstr>汉仪书宋二KW</vt:lpstr>
      <vt:lpstr>Calibri</vt:lpstr>
      <vt:lpstr>Cambria Math</vt:lpstr>
      <vt:lpstr>宋体</vt:lpstr>
      <vt:lpstr>Arial Unicode MS</vt:lpstr>
      <vt:lpstr>微软雅黑</vt:lpstr>
      <vt:lpstr>毕业论文主题</vt:lpstr>
      <vt:lpstr>1_毕业论文主题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zhibo</dc:creator>
  <cp:lastModifiedBy>畅想未来</cp:lastModifiedBy>
  <cp:revision>293</cp:revision>
  <dcterms:created xsi:type="dcterms:W3CDTF">2026-04-25T13:47:51Z</dcterms:created>
  <dcterms:modified xsi:type="dcterms:W3CDTF">2026-04-25T13:47:51Z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097102359EE441CC8312492F73957D07</vt:lpwstr>
  </property>
  <property fmtid="{D5CDD505-2E9C-101B-9397-08002B2CF9AE}" pid="3" name="KSOProductBuildVer">
    <vt:lpwstr>2052-12.1.25205.25205</vt:lpwstr>
  </property>
</Properties>
</file>